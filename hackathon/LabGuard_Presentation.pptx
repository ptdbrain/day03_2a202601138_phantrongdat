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981599d4e34352" /><Relationship Type="http://schemas.openxmlformats.org/officeDocument/2006/relationships/extended-properties" Target="/docProps/app.xml" Id="R51363b7ba3b44779" /><Relationship Type="http://schemas.openxmlformats.org/officeDocument/2006/relationships/officeDocument" Target="/ppt/presentation.xml" Id="R782f5d213b6f44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2fda1b42954331"/>
  </p:sldMasterIdLst>
  <p:notesMasterIdLst>
    <p:notesMasterId xmlns:r="http://schemas.openxmlformats.org/officeDocument/2006/relationships" r:id="Rb4e8e6ce9fbe4b80"/>
  </p:notesMasterIdLst>
  <p:sldIdLst>
    <p:sldId xmlns:r="http://schemas.openxmlformats.org/officeDocument/2006/relationships" id="256" r:id="R63d6675928da4f54"/>
    <p:sldId xmlns:r="http://schemas.openxmlformats.org/officeDocument/2006/relationships" id="257" r:id="R3b931b647ee54b88"/>
    <p:sldId xmlns:r="http://schemas.openxmlformats.org/officeDocument/2006/relationships" id="258" r:id="R69476352593b4361"/>
    <p:sldId xmlns:r="http://schemas.openxmlformats.org/officeDocument/2006/relationships" id="259" r:id="Rf0cde1e4a0ad48be"/>
    <p:sldId xmlns:r="http://schemas.openxmlformats.org/officeDocument/2006/relationships" id="260" r:id="R0beae53aada94382"/>
    <p:sldId xmlns:r="http://schemas.openxmlformats.org/officeDocument/2006/relationships" id="261" r:id="Rc8380c57f530432b"/>
    <p:sldId xmlns:r="http://schemas.openxmlformats.org/officeDocument/2006/relationships" id="262" r:id="R8ef2f4cc381b47ac"/>
    <p:sldId xmlns:r="http://schemas.openxmlformats.org/officeDocument/2006/relationships" id="263" r:id="R907880a0f19e4363"/>
    <p:sldId xmlns:r="http://schemas.openxmlformats.org/officeDocument/2006/relationships" id="264" r:id="R01496a765d834756"/>
    <p:sldId xmlns:r="http://schemas.openxmlformats.org/officeDocument/2006/relationships" id="265" r:id="Rde9c5ba1295343fe"/>
    <p:sldId xmlns:r="http://schemas.openxmlformats.org/officeDocument/2006/relationships" id="266" r:id="R6826a6aa80704175"/>
    <p:sldId xmlns:r="http://schemas.openxmlformats.org/officeDocument/2006/relationships" id="267" r:id="R7c562fb149f942bc"/>
    <p:sldId xmlns:r="http://schemas.openxmlformats.org/officeDocument/2006/relationships" id="268" r:id="R91d55990a3284a57"/>
    <p:sldId xmlns:r="http://schemas.openxmlformats.org/officeDocument/2006/relationships" id="269" r:id="Rb873cc92e0734714"/>
    <p:sldId xmlns:r="http://schemas.openxmlformats.org/officeDocument/2006/relationships" id="270" r:id="Rca6f45538cac404d"/>
    <p:sldId xmlns:r="http://schemas.openxmlformats.org/officeDocument/2006/relationships" id="271" r:id="R0c8bd68a2dd84102"/>
    <p:sldId xmlns:r="http://schemas.openxmlformats.org/officeDocument/2006/relationships" id="272" r:id="Rb2b9283cc8dd42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6d6002525548d8" /><Relationship Type="http://schemas.openxmlformats.org/officeDocument/2006/relationships/slideMaster" Target="/ppt/slideMasters/slideMaster1.xml" Id="R072fda1b42954331" /><Relationship Type="http://schemas.openxmlformats.org/officeDocument/2006/relationships/notesMaster" Target="/ppt/notesMasters/notesMaster1.xml" Id="Rb4e8e6ce9fbe4b80" /><Relationship Type="http://schemas.openxmlformats.org/officeDocument/2006/relationships/presProps" Target="/ppt/presProps.xml" Id="Re294bd1220a04869" /><Relationship Type="http://schemas.openxmlformats.org/officeDocument/2006/relationships/tableStyles" Target="/ppt/tableStyles.xml" Id="Rd265b6edb69f4a23" /><Relationship Type="http://schemas.openxmlformats.org/officeDocument/2006/relationships/slide" Target="/ppt/slides/slide1.xml" Id="R63d6675928da4f54" /><Relationship Type="http://schemas.openxmlformats.org/officeDocument/2006/relationships/slide" Target="/ppt/slides/slide2.xml" Id="R3b931b647ee54b88" /><Relationship Type="http://schemas.openxmlformats.org/officeDocument/2006/relationships/slide" Target="/ppt/slides/slide3.xml" Id="R69476352593b4361" /><Relationship Type="http://schemas.openxmlformats.org/officeDocument/2006/relationships/slide" Target="/ppt/slides/slide4.xml" Id="Rf0cde1e4a0ad48be" /><Relationship Type="http://schemas.openxmlformats.org/officeDocument/2006/relationships/slide" Target="/ppt/slides/slide5.xml" Id="R0beae53aada94382" /><Relationship Type="http://schemas.openxmlformats.org/officeDocument/2006/relationships/slide" Target="/ppt/slides/slide6.xml" Id="Rc8380c57f530432b" /><Relationship Type="http://schemas.openxmlformats.org/officeDocument/2006/relationships/slide" Target="/ppt/slides/slide7.xml" Id="R8ef2f4cc381b47ac" /><Relationship Type="http://schemas.openxmlformats.org/officeDocument/2006/relationships/slide" Target="/ppt/slides/slide8.xml" Id="R907880a0f19e4363" /><Relationship Type="http://schemas.openxmlformats.org/officeDocument/2006/relationships/slide" Target="/ppt/slides/slide9.xml" Id="R01496a765d834756" /><Relationship Type="http://schemas.openxmlformats.org/officeDocument/2006/relationships/slide" Target="/ppt/slides/slide10.xml" Id="Rde9c5ba1295343fe" /><Relationship Type="http://schemas.openxmlformats.org/officeDocument/2006/relationships/slide" Target="/ppt/slides/slide11.xml" Id="R6826a6aa80704175" /><Relationship Type="http://schemas.openxmlformats.org/officeDocument/2006/relationships/slide" Target="/ppt/slides/slide12.xml" Id="R7c562fb149f942bc" /><Relationship Type="http://schemas.openxmlformats.org/officeDocument/2006/relationships/slide" Target="/ppt/slides/slide13.xml" Id="R91d55990a3284a57" /><Relationship Type="http://schemas.openxmlformats.org/officeDocument/2006/relationships/slide" Target="/ppt/slides/slide14.xml" Id="Rb873cc92e0734714" /><Relationship Type="http://schemas.openxmlformats.org/officeDocument/2006/relationships/slide" Target="/ppt/slides/slide15.xml" Id="Rca6f45538cac404d" /><Relationship Type="http://schemas.openxmlformats.org/officeDocument/2006/relationships/slide" Target="/ppt/slides/slide16.xml" Id="R0c8bd68a2dd84102" /><Relationship Type="http://schemas.openxmlformats.org/officeDocument/2006/relationships/slide" Target="/ppt/slides/slide17.xml" Id="Rb2b9283cc8dd42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f6017fb2bc46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931f287354447c" /><Relationship Type="http://schemas.openxmlformats.org/officeDocument/2006/relationships/notesMaster" Target="/ppt/notesMasters/notesMaster1.xml" Id="R8a1b743c6eaa4e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30eeef92774878" /><Relationship Type="http://schemas.openxmlformats.org/officeDocument/2006/relationships/notesMaster" Target="/ppt/notesMasters/notesMaster1.xml" Id="Rea2781b9152e47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0c32f280a44a7a" /><Relationship Type="http://schemas.openxmlformats.org/officeDocument/2006/relationships/notesMaster" Target="/ppt/notesMasters/notesMaster1.xml" Id="Rc3e048c1792e42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878bd8293e4e2d" /><Relationship Type="http://schemas.openxmlformats.org/officeDocument/2006/relationships/notesMaster" Target="/ppt/notesMasters/notesMaster1.xml" Id="R0758ab50553240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5fcda665444253" /><Relationship Type="http://schemas.openxmlformats.org/officeDocument/2006/relationships/notesMaster" Target="/ppt/notesMasters/notesMaster1.xml" Id="Rcb9a56e4968540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a6bdeade534bf4" /><Relationship Type="http://schemas.openxmlformats.org/officeDocument/2006/relationships/notesMaster" Target="/ppt/notesMasters/notesMaster1.xml" Id="R537ee622f05b4e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ecfb23efdb4a67" /><Relationship Type="http://schemas.openxmlformats.org/officeDocument/2006/relationships/notesMaster" Target="/ppt/notesMasters/notesMaster1.xml" Id="R4c43bb3c626649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cf9e65e73c4616" /><Relationship Type="http://schemas.openxmlformats.org/officeDocument/2006/relationships/notesMaster" Target="/ppt/notesMasters/notesMaster1.xml" Id="Rf62719a778db40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8396ad507d429d" /><Relationship Type="http://schemas.openxmlformats.org/officeDocument/2006/relationships/notesMaster" Target="/ppt/notesMasters/notesMaster1.xml" Id="Rd422a3e6336e44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5fcfe4d3a14882" /><Relationship Type="http://schemas.openxmlformats.org/officeDocument/2006/relationships/notesMaster" Target="/ppt/notesMasters/notesMaster1.xml" Id="R3aa6a191661749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0dba7ba19f4b71" /><Relationship Type="http://schemas.openxmlformats.org/officeDocument/2006/relationships/notesMaster" Target="/ppt/notesMasters/notesMaster1.xml" Id="R01456ea02cf345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a49ff650a0470f" /><Relationship Type="http://schemas.openxmlformats.org/officeDocument/2006/relationships/notesMaster" Target="/ppt/notesMasters/notesMaster1.xml" Id="R911556f3ad9040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edee2c328b4067" /><Relationship Type="http://schemas.openxmlformats.org/officeDocument/2006/relationships/notesMaster" Target="/ppt/notesMasters/notesMaster1.xml" Id="R4d39391fafb342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239cc1a98c4b11" /><Relationship Type="http://schemas.openxmlformats.org/officeDocument/2006/relationships/notesMaster" Target="/ppt/notesMasters/notesMaster1.xml" Id="Ra3724775a3b6416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e1d4d9c7ef4a57" /><Relationship Type="http://schemas.openxmlformats.org/officeDocument/2006/relationships/notesMaster" Target="/ppt/notesMasters/notesMaster1.xml" Id="R389089a3e8ce42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126f573a024f40" /><Relationship Type="http://schemas.openxmlformats.org/officeDocument/2006/relationships/notesMaster" Target="/ppt/notesMasters/notesMaster1.xml" Id="R8f8d3ba38a444f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cac80277ec4484" /><Relationship Type="http://schemas.openxmlformats.org/officeDocument/2006/relationships/notesMaster" Target="/ppt/notesMasters/notesMaster1.xml" Id="R2d4d2c619a6b41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vấn đề cốt lõi: LabGuard là lớp kiểm tra trước khi nộp, không phải công cụ làm bài hộ.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chi phí của việc đối chiếu thủ công và sự khác nhau giữa “có file” với “đạt yêu cầu”.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chuỗi giá trị: từ nguồn yêu cầu đến một kết luận có căn cứ và hành động tiếp theo.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tự suy diễn số liệu. Khi có file CSV/XLSX từ Google Form, thay khối bên trái bằng 2–3 biểu đồ có số mẫu và tỷ lệ phần trăm.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Form khảo sát: https://forms.gle/iaPwkKp3oc3H1Y2u9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chỉ nhắm Lab 03 để tránh mở rộng checker quá sớm. Tiêu chí thành công là chạy trọn luồng và đưa ra một hành động hữu ích.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rõ deterministic checker xử lý điều kiện chắc chắn; semantic checker xử lý bản chất logic và chất lượng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ưu tiên học hỏi và độ chính xác trước khi thêm quyền truy cập, sandbox hoặc tích hợp sâu.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Dùng slide này làm bản đồ điều hướng trước khi demo giao diện.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 mockup minh họa: duyệt yêu cầu, theo dõi scan, và Result Card tập trung vào một rủi ro cao nhất.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nên chuẩn bị sẵn hai commit hoặc hai branch để tránh phụ thuộc thao tác sửa code trực tiếp.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Mô tả đường đi của dữ liệu và vai trò assignment-pack.yaml như hợp đồng giữa nguồn yêu cầu và checker.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truy xuất nguồn và khả năng audit: mỗi finding phải quay về requirement, evidence và hành động.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Guardrail không chỉ là an toàn kỹ thuật mà còn bảo vệ mục tiêu học tập và quyền phản biện đánh giá của học viên.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 hoạch eval cần khóa bộ golden cases trước khi tối ưu prompt để tránh tự đánh giá trên chính dữ liệu đã chỉnh.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bốn tuần, mỗi tuần có một mốc kiểm chứng độc lập thay vì chỉ liệt kê đầu việc.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Tổng kết giá trị kép: hỗ trợ học viên tự sửa và giúp TA tập trung vào chất lượng học thuật.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lời mời thảo luận về độ chính xác checker, phạm vi MVP và kịch bản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Nội dung do người dùng cung cấp trong yêu cầu tạo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9b616e23341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91e418156e46d5" /><Relationship Type="http://schemas.openxmlformats.org/officeDocument/2006/relationships/slideLayout" Target="/ppt/slideLayouts/slideLayout1.xml" Id="R976e68f48b2941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6e68f48b2941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bd33689b342db" /><Relationship Type="http://schemas.openxmlformats.org/officeDocument/2006/relationships/notesSlide" Target="/ppt/notesSlides/notesSlide1.xml" Id="R317560d3a95749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fa99e15534e35" /><Relationship Type="http://schemas.openxmlformats.org/officeDocument/2006/relationships/notesSlide" Target="/ppt/notesSlides/notesSlide2.xml" Id="Ra81b0700d3c54b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4b87a1c2a4a41" /><Relationship Type="http://schemas.openxmlformats.org/officeDocument/2006/relationships/notesSlide" Target="/ppt/notesSlides/notesSlide3.xml" Id="Ra0c4aad8c4774d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a06f00be54eae" /><Relationship Type="http://schemas.openxmlformats.org/officeDocument/2006/relationships/notesSlide" Target="/ppt/notesSlides/notesSlide4.xml" Id="R83156c2202cd40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1bf2200f64446" /><Relationship Type="http://schemas.openxmlformats.org/officeDocument/2006/relationships/notesSlide" Target="/ppt/notesSlides/notesSlide5.xml" Id="R48906211f01e43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ab4c71b184a2c" /><Relationship Type="http://schemas.openxmlformats.org/officeDocument/2006/relationships/notesSlide" Target="/ppt/notesSlides/notesSlide6.xml" Id="Rfab6dbe78d784c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fb75ea51a46f8" /><Relationship Type="http://schemas.openxmlformats.org/officeDocument/2006/relationships/notesSlide" Target="/ppt/notesSlides/notesSlide7.xml" Id="R024b5f1cbae844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52bd525db4e23" /><Relationship Type="http://schemas.openxmlformats.org/officeDocument/2006/relationships/notesSlide" Target="/ppt/notesSlides/notesSlide8.xml" Id="R2383c9b8b91449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a276bcf8e45a0" /><Relationship Type="http://schemas.openxmlformats.org/officeDocument/2006/relationships/notesSlide" Target="/ppt/notesSlides/notesSlide9.xml" Id="R7192fcd744784f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a41bad4c4423e" /><Relationship Type="http://schemas.openxmlformats.org/officeDocument/2006/relationships/notesSlide" Target="/ppt/notesSlides/notesSlide10.xml" Id="Re0156f74ee9347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6e3cb3a874622" /><Relationship Type="http://schemas.openxmlformats.org/officeDocument/2006/relationships/notesSlide" Target="/ppt/notesSlides/notesSlide11.xml" Id="R44a5b2801f894d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3157824564dc2" /><Relationship Type="http://schemas.openxmlformats.org/officeDocument/2006/relationships/notesSlide" Target="/ppt/notesSlides/notesSlide12.xml" Id="Raf8bc34a699e40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cc3792ab1438f" /><Relationship Type="http://schemas.openxmlformats.org/officeDocument/2006/relationships/notesSlide" Target="/ppt/notesSlides/notesSlide13.xml" Id="R3770c74f851e47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1e37c18104761" /><Relationship Type="http://schemas.openxmlformats.org/officeDocument/2006/relationships/notesSlide" Target="/ppt/notesSlides/notesSlide14.xml" Id="Rf377aa7620b4404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b7b5a11b743de" /><Relationship Type="http://schemas.openxmlformats.org/officeDocument/2006/relationships/notesSlide" Target="/ppt/notesSlides/notesSlide15.xml" Id="R6362c105f48449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3862e85b24c8d" /><Relationship Type="http://schemas.openxmlformats.org/officeDocument/2006/relationships/notesSlide" Target="/ppt/notesSlides/notesSlide16.xml" Id="R5ce4b237a2c74f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45046e1c74ab6" /><Relationship Type="http://schemas.openxmlformats.org/officeDocument/2006/relationships/notesSlide" Target="/ppt/notesSlides/notesSlide17.xml" Id="R6a6d8feb863d45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5EC0D7-1843-49AC-A223-81B369A2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381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2230"/>
          </a:solidFill>
          <a:ln xmlns:a="http://schemas.openxmlformats.org/drawingml/2006/main" w="9525">
            <a:solidFill>
              <a:srgbClr val="3EE6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A2681-4A1C-4E91-A81C-9269A74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EE6D5"/>
                </a:solidFill>
              </a:defRPr>
            </a:pPr>
            <a:r>
              <a:rPr sz="1050" b="1">
                <a:solidFill>
                  <a:srgbClr val="3EE6D5"/>
                </a:solidFill>
              </a:rPr>
              <a:t>PRE-SUBMISSION AI GUARDRAIL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99A71-DCD0-43C0-A44F-123BE8EE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5F8FC"/>
                </a:solidFill>
              </a:defRPr>
            </a:pPr>
            <a:r>
              <a:rPr sz="5400" b="1">
                <a:solidFill>
                  <a:srgbClr val="F5F8FC"/>
                </a:solidFill>
              </a:rPr>
              <a:t>LabGuard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31675-AFCD-4847-B7FC-54FE5C04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AFC0D4"/>
                </a:solidFill>
              </a:defRPr>
            </a:pPr>
            <a:r>
              <a:rPr sz="2250" b="0">
                <a:solidFill>
                  <a:srgbClr val="AFC0D4"/>
                </a:solidFill>
              </a:rPr>
              <a:t>Hệ thống AI kiểm tra và đánh giá bài Lab trước khi nộp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F9027-FDC9-4263-AB32-A0C718EA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41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E6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693C0-EF98-4342-807B-BB7E01C8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8FC"/>
                </a:solidFill>
              </a:defRPr>
            </a:pPr>
            <a:r>
              <a:rPr sz="1875" b="1">
                <a:solidFill>
                  <a:srgbClr val="F5F8FC"/>
                </a:solidFill>
              </a:rPr>
              <a:t>“Không làm bài thay học viên. Giúp học viên biết bài còn thiếu gì trước khi sử dụng lượt nộp.”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9E03F-9EF3-4F5B-9EB8-5C109D90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28700"/>
            <a:ext cx="2286000" cy="37147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D2538"/>
          </a:solidFill>
          <a:ln xmlns:a="http://schemas.openxmlformats.org/drawingml/2006/main" w="19050">
            <a:solidFill>
              <a:srgbClr val="3EE6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64626-81EA-4540-92A8-6187CBB4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4780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EE6D5"/>
                </a:solidFill>
              </a:defRPr>
            </a:pPr>
            <a:r>
              <a:rPr sz="2850" b="1">
                <a:solidFill>
                  <a:srgbClr val="3EE6D5"/>
                </a:solidFill>
              </a:rPr>
              <a:t>LAB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B69FF-AED4-4AF6-A57A-83A21F8A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43125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B9F36A"/>
                </a:solidFill>
              </a:defRPr>
            </a:pPr>
            <a:r>
              <a:rPr sz="7200" b="1">
                <a:solidFill>
                  <a:srgbClr val="B9F36A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9DD0F-FC01-4FEB-869D-B163543E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2900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8FC"/>
                </a:solidFill>
              </a:defRPr>
            </a:pPr>
            <a:r>
              <a:rPr sz="2100" b="1">
                <a:solidFill>
                  <a:srgbClr val="F5F8FC"/>
                </a:solidFill>
              </a:rPr>
              <a:t>READY?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301A8-8B91-4B5E-A582-03A75D48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0D4"/>
                </a:solidFill>
              </a:defRPr>
            </a:pPr>
            <a:r>
              <a:rPr sz="1275" b="0">
                <a:solidFill>
                  <a:srgbClr val="AFC0D4"/>
                </a:solidFill>
              </a:rPr>
              <a:t>Người thực hiện / Nhóm thực hiện</a:t>
            </a:r>
          </a:p>
          <a:p xmlns:a="http://schemas.openxmlformats.org/drawingml/2006/main">
            <a:pPr algn="l">
              <a:defRPr sz="1275" b="0">
                <a:solidFill>
                  <a:srgbClr val="AFC0D4"/>
                </a:solidFill>
              </a:defRPr>
            </a:pPr>
            <a:r>
              <a:rPr sz="1275" b="0">
                <a:solidFill>
                  <a:srgbClr val="AFC0D4"/>
                </a:solidFill>
              </a:rPr>
              <a:t>VinUni-AI20k · Cohort 34</a:t>
            </a:r>
          </a:p>
        </p:txBody>
      </p:sp>
    </p:spTree>
    <p:extLst>
      <p:ext uri="{BB962C8B-B14F-4D97-AF65-F5344CB8AC3E}">
        <p14:creationId xmlns:p14="http://schemas.microsoft.com/office/powerpoint/2010/main" val="1463794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A52958-814B-4807-A6D6-7347B199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01 ·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CE687-FA7B-4E8E-9F73-63018603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Một bài Lab — ba nguồn sự thật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E2580-470C-424E-9F0A-4C3FB190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3C504-BDEC-4166-9E88-6806761B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9C661-CF7A-41DE-A6AA-D92E8959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53A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C1956-518E-4515-AB6E-433FC6E4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3A8FF"/>
                </a:solidFill>
              </a:defRPr>
            </a:pPr>
            <a:r>
              <a:rPr sz="1650" b="1">
                <a:solidFill>
                  <a:srgbClr val="53A8FF"/>
                </a:solidFill>
              </a:rPr>
              <a:t>CODELAB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16463-1BFC-417F-BDD0-6AB77CCE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FC0D4"/>
                </a:solidFill>
              </a:defRPr>
            </a:pPr>
            <a:r>
              <a:rPr sz="1125" b="0">
                <a:solidFill>
                  <a:srgbClr val="AFC0D4"/>
                </a:solidFill>
              </a:rPr>
              <a:t>Hướng dẫn từng bước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62154-F615-46C3-A9BD-DDDCADFC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3EE6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3C19D-A8B7-4667-9265-40E4644C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E6D5"/>
                </a:solidFill>
              </a:defRPr>
            </a:pPr>
            <a:r>
              <a:rPr sz="1650" b="1">
                <a:solidFill>
                  <a:srgbClr val="3EE6D5"/>
                </a:solidFill>
              </a:rPr>
              <a:t>GITHUB README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566F8-25DE-4857-B72F-68DD89EE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19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FC0D4"/>
                </a:solidFill>
              </a:defRPr>
            </a:pPr>
            <a:r>
              <a:rPr sz="1125" b="0">
                <a:solidFill>
                  <a:srgbClr val="AFC0D4"/>
                </a:solidFill>
              </a:rPr>
              <a:t>Cấu trúc &amp; 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48F97-7C12-486D-A9A0-F6710FE1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2571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6FAFC-B5F2-4BB1-9D40-834E92DF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C857"/>
                </a:solidFill>
              </a:defRPr>
            </a:pPr>
            <a:r>
              <a:rPr sz="1650" b="1">
                <a:solidFill>
                  <a:srgbClr val="FFC857"/>
                </a:solidFill>
              </a:rPr>
              <a:t>RUBRIC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13A57-EC18-432D-90F7-D93726E3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19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FC0D4"/>
                </a:solidFill>
              </a:defRPr>
            </a:pPr>
            <a:r>
              <a:rPr sz="1125" b="0">
                <a:solidFill>
                  <a:srgbClr val="AFC0D4"/>
                </a:solidFill>
              </a:rPr>
              <a:t>Điều kiện chấm điểm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69D090-E116-453F-B742-97636356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574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78"/>
                </a:solidFill>
              </a:defRPr>
            </a:pPr>
            <a:r>
              <a:rPr sz="2550" b="1">
                <a:solidFill>
                  <a:srgbClr val="FF6B78"/>
                </a:solidFill>
              </a:rPr>
              <a:t>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F8515-9FF0-4F63-B937-D811794D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0574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6B78"/>
                </a:solidFill>
              </a:defRPr>
            </a:pPr>
            <a:r>
              <a:rPr sz="2550" b="1">
                <a:solidFill>
                  <a:srgbClr val="FF6B78"/>
                </a:solidFill>
              </a:rPr>
              <a:t>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4D86D-29F8-4304-BBF1-AD566B09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A7BCC-0EE8-42BF-9804-1EF45D78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8"/>
          </a:solidFill>
          <a:ln xmlns:a="http://schemas.openxmlformats.org/drawingml/2006/main" w="0">
            <a:solidFill>
              <a:srgbClr val="FF6B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AC9A4-306E-4D21-9D19-1EB0D85E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Yêu cầu rải rác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7199A1-14A7-475E-BAF5-46856B99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Có thể thiếu hoặc mâu thuẫn giữa các nguồn.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2AD0F-A14A-4B8E-8BBB-442E394E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BC0EE-5417-489E-94C7-2E2679FB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BF6B3-BE74-45C0-8B93-8273E322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909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Có file ≠ đúng bản chất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E919D-BF3F-465B-AA05-AEF199EA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7190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app.py tồn tại nhưng ReAct loop vẫn hard-code.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9D9CDB-A2D9-4304-BCEC-BE3EE432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333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12F8A9-6872-4C26-92A7-A67A0CC0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8"/>
          </a:solidFill>
          <a:ln xmlns:a="http://schemas.openxmlformats.org/drawingml/2006/main" w="0">
            <a:solidFill>
              <a:srgbClr val="FF6B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E46E8A-C261-4F74-92FD-19B1B81D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Rủi ro vô 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49D54-E169-47E6-9CC3-1BDFA4B0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933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Lộ API key, thiếu flowchart hoặc trace evaluation.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C6B9E3-C372-4406-97E1-BB8BF5B4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8FC"/>
                </a:solidFill>
              </a:defRPr>
            </a:pPr>
            <a:r>
              <a:rPr sz="2100" b="1">
                <a:solidFill>
                  <a:srgbClr val="F5F8FC"/>
                </a:solidFill>
              </a:rPr>
              <a:t>HỆ QUẢ  →  Phung phí lượt nộp cho lỗi có thể phát hiện trước</a:t>
            </a:r>
          </a:p>
        </p:txBody>
      </p:sp>
    </p:spTree>
    <p:extLst>
      <p:ext uri="{BB962C8B-B14F-4D97-AF65-F5344CB8AC3E}">
        <p14:creationId xmlns:p14="http://schemas.microsoft.com/office/powerpoint/2010/main" val="645623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6B9A3-664B-4E6D-AA9F-245DD4FE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01 ·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D9A65-B463-4CB8-A6F6-289AE894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LabGuard biến yêu cầu thành một cổng kiểm 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22547-42D2-4FB4-8F35-F8A1F0B2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46419-EFD4-4AEB-8B9C-5F09113B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EBB25-49D8-40AF-95EB-69F9BF12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05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E6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38157-9087-44FE-BE7A-AF8A4841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924050" cy="20002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45AC0-1B70-456F-9676-E30AC618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E6D5"/>
                </a:solidFill>
              </a:defRPr>
            </a:pPr>
            <a:r>
              <a:rPr sz="1800" b="1">
                <a:solidFill>
                  <a:srgbClr val="3EE6D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6E593-80E0-46D5-9511-76740A3E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ĐỌC NGUỒN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A0A37-720C-491F-9254-8DCD7276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Ảnh/PDF/Text + GitHub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50869-1C32-4E34-8120-A8EAC52D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E6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94E64-60CE-4C09-B624-DA11FF77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924050" cy="20002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1C8AD-32BC-47D1-B1CF-90FFDACD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66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E6D5"/>
                </a:solidFill>
              </a:defRPr>
            </a:pPr>
            <a:r>
              <a:rPr sz="1800" b="1">
                <a:solidFill>
                  <a:srgbClr val="3EE6D5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6A5A3-B1E7-44D3-AC51-8C60A77F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XÁC NHẬN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E59B7-8B1A-4DF2-893B-C75E1898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3850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Requirement Pack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EE9F6-9EA0-4FAB-A31D-98864826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E6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094B8-D27B-496C-A894-119AA38B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95500"/>
            <a:ext cx="1924050" cy="20002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EE4B7-6AC2-4E54-85AB-E46C7996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E6D5"/>
                </a:solidFill>
              </a:defRPr>
            </a:pPr>
            <a:r>
              <a:rPr sz="1800" b="1">
                <a:solidFill>
                  <a:srgbClr val="3EE6D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BE563-A44F-443C-AACC-7F2767B1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QUÉT REPO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866E8-3E00-45A3-A1D3-79884E4C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3850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Static + Semantic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9D2C6-83A9-4FB7-917A-97FBA9DE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051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EE6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A0F91-9F50-432C-913D-02597640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924050" cy="20002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92536"/>
          </a:solidFill>
          <a:ln xmlns:a="http://schemas.openxmlformats.org/drawingml/2006/main" w="19050">
            <a:solidFill>
              <a:srgbClr val="FF6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E7888B-1452-4A2A-95BB-EFD7E651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78"/>
                </a:solidFill>
              </a:defRPr>
            </a:pPr>
            <a:r>
              <a:rPr sz="1800" b="1">
                <a:solidFill>
                  <a:srgbClr val="FF6B7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92358-28DF-4747-9935-C6DBEA63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XẾP HẠNG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25D94-DA1D-4BA4-B286-8C4C4A27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Highest Risk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2BE74C-DB73-4068-9183-2F2C27A9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924050" cy="20002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9C82E9-B56A-43B4-B988-45AB8EF8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669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E6D5"/>
                </a:solidFill>
              </a:defRPr>
            </a:pPr>
            <a:r>
              <a:rPr sz="1800" b="1">
                <a:solidFill>
                  <a:srgbClr val="3EE6D5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EA26F-2FB7-46A1-808C-1AE4DD84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813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HƯỚNG DẪN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F255E7-5CC4-4355-8B49-D61EC89A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3850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Sửa rồi Re-check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7F5688-EFBD-4B8D-B61E-24336676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0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3A8FF"/>
                </a:solidFill>
              </a:defRPr>
            </a:pPr>
            <a:r>
              <a:rPr sz="1800" b="1">
                <a:solidFill>
                  <a:srgbClr val="53A8FF"/>
                </a:solidFill>
              </a:rPr>
              <a:t>Deterministic Check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92DDAB-4A8A-4223-B4F8-C919AF71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0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FC0D4"/>
                </a:solidFill>
              </a:defRPr>
            </a:pPr>
            <a:r>
              <a:rPr sz="2100" b="1">
                <a:solidFill>
                  <a:srgbClr val="AFC0D4"/>
                </a:solidFill>
              </a:rPr>
              <a:t>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09CF27-7357-4613-8DF0-4439A7A3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101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EE6D5"/>
                </a:solidFill>
              </a:defRPr>
            </a:pPr>
            <a:r>
              <a:rPr sz="1800" b="1">
                <a:solidFill>
                  <a:srgbClr val="3EE6D5"/>
                </a:solidFill>
              </a:rPr>
              <a:t>AI Semantic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644712-7C71-44EC-AC08-7F9C3C84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01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FC0D4"/>
                </a:solidFill>
              </a:defRPr>
            </a:pPr>
            <a:r>
              <a:rPr sz="2100" b="1">
                <a:solidFill>
                  <a:srgbClr val="AFC0D4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54A1D0-107F-412E-A867-B11E846A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19650"/>
            <a:ext cx="2095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2230"/>
          </a:solidFill>
          <a:ln xmlns:a="http://schemas.openxmlformats.org/drawingml/2006/main" w="9525">
            <a:solidFill>
              <a:srgbClr val="B9F36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D17780-2237-4B3D-8DB2-737DCD2D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19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F36A"/>
                </a:solidFill>
              </a:defRPr>
            </a:pPr>
            <a:r>
              <a:rPr sz="1050" b="1">
                <a:solidFill>
                  <a:srgbClr val="B9F36A"/>
                </a:solidFill>
              </a:rPr>
              <a:t>READY / NOT READY</a:t>
            </a:r>
          </a:p>
        </p:txBody>
      </p:sp>
    </p:spTree>
    <p:extLst>
      <p:ext uri="{BB962C8B-B14F-4D97-AF65-F5344CB8AC3E}">
        <p14:creationId xmlns:p14="http://schemas.microsoft.com/office/powerpoint/2010/main" val="10170838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58585-BECC-45B1-A631-E37D608C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02 · SURVEY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8CDAF-CD68-47D8-8F88-D2A9F5E6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Khảo sát xác nhận đúng vấn đề cần đo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D8B89-8D52-4F2A-8C17-B892AAD5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D2412-6E96-4141-8294-B011841B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94364-A9F8-475A-A6A6-03E38508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90525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841A8-0852-42B8-B165-7A764167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E6D5"/>
                </a:solidFill>
              </a:defRPr>
            </a:pPr>
            <a:r>
              <a:rPr sz="1650" b="1">
                <a:solidFill>
                  <a:srgbClr val="3EE6D5"/>
                </a:solidFill>
              </a:rPr>
              <a:t>KẾT QUẢ GG 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2CA6E-8821-481A-BC69-E9BB3504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Dữ liệu phản hồi</a:t>
            </a:r>
          </a:p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chưa được cung cấp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66E9C-3564-457C-AF67-F4CFFFCD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323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0D4"/>
                </a:solidFill>
              </a:defRPr>
            </a:pPr>
            <a:r>
              <a:rPr sz="1275" b="0">
                <a:solidFill>
                  <a:srgbClr val="AFC0D4"/>
                </a:solidFill>
              </a:rPr>
              <a:t>Cập nhật số mẫu (n), tỷ lệ gặp lỗi và mức độ sẵn sàng dùng LabGuard sau khi xuất dữ liệu Form.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DAE02-AC2A-4249-9589-380B2A4B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524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2230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C452C-1992-468D-984F-C2D3DAFA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857"/>
                </a:solidFill>
              </a:defRPr>
            </a:pPr>
            <a:r>
              <a:rPr sz="1050" b="1">
                <a:solidFill>
                  <a:srgbClr val="FFC857"/>
                </a:solidFill>
              </a:rPr>
              <a:t>PENDING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CBB92-7866-45FC-AAC0-E0A9C9A1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</a:defRPr>
            </a:pPr>
            <a:r>
              <a:rPr sz="1800" b="1">
                <a:solidFill>
                  <a:srgbClr val="F5F8FC"/>
                </a:solidFill>
              </a:rPr>
              <a:t>4 câu hỏi quyết định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94159-A194-4893-8ED5-4FAD9954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A8FF"/>
          </a:solidFill>
          <a:ln xmlns:a="http://schemas.openxmlformats.org/drawingml/2006/main" w="0">
            <a:solidFill>
              <a:srgbClr val="53A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7E942-B3CE-4B8E-AEB6-2FA68A2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43150"/>
            <a:ext cx="596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Tần suất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AEB63-E233-4395-A5E7-ABFE3FEF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289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Học viên thường xuyên quên file hoặc yêu cầu nào?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B4F77-1706-41E1-8955-536888E4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28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78"/>
          </a:solidFill>
          <a:ln xmlns:a="http://schemas.openxmlformats.org/drawingml/2006/main" w="0">
            <a:solidFill>
              <a:srgbClr val="FF6B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DF7D8-5970-46CD-B215-25E658CB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62300"/>
            <a:ext cx="596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Mức độ ảnh hưởng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69FCD-3418-4320-AC4B-88993A77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4805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Lỗi vô ý đã làm mất bao nhiêu lượt nộp?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7A515-8FFD-4BB9-9879-D0D949CB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48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3A25A-3F25-44EF-8CB1-782C2E4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81450"/>
            <a:ext cx="596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Hành vi hiện tại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2894D-9B70-4243-A7AD-6E30DF12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6720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Đang đối chiếu Codelab, README, Rubric bằng cách nào?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EAA1E-156D-4504-9CEA-013F0147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67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36A"/>
          </a:solidFill>
          <a:ln xmlns:a="http://schemas.openxmlformats.org/drawingml/2006/main" w="0">
            <a:solidFill>
              <a:srgbClr val="B9F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850E5-32FC-4E5F-8AF6-E9E4D30C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00600"/>
            <a:ext cx="596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Nhu cầu giải pháp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78D628-749F-46A5-8CAE-5BA58CF7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86350"/>
            <a:ext cx="596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Tính năng nào đủ giá trị để dùng trước mỗi lần nộp?</a:t>
            </a:r>
          </a:p>
        </p:txBody>
      </p:sp>
    </p:spTree>
    <p:extLst>
      <p:ext uri="{BB962C8B-B14F-4D97-AF65-F5344CB8AC3E}">
        <p14:creationId xmlns:p14="http://schemas.microsoft.com/office/powerpoint/2010/main" val="949576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94689F-6D0B-4959-82AA-07669304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03 · MVP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58E08-E89C-4D63-BA74-D8ADE54F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MVP tập trung vào một bài Lab, một quyết định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672E9-DE36-41B3-AB06-A95EBB95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42B17-26AC-4634-97D5-B945075A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97757-EA4F-4D9B-92E5-AC2169BB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457450" cy="26193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93472-726A-4C84-A02D-F1820C7E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E6D5"/>
                </a:solidFill>
              </a:defRPr>
            </a:pPr>
            <a:r>
              <a:rPr sz="1200" b="1">
                <a:solidFill>
                  <a:srgbClr val="3EE6D5"/>
                </a:solidFill>
              </a:rPr>
              <a:t>BÀI 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6D27F-5329-479B-8351-2C0AE011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8FC"/>
                </a:solidFill>
              </a:defRPr>
            </a:pPr>
            <a:r>
              <a:rPr sz="2025" b="1">
                <a:solidFill>
                  <a:srgbClr val="F5F8FC"/>
                </a:solidFill>
              </a:rPr>
              <a:t>Lab 03</a:t>
            </a:r>
          </a:p>
          <a:p xmlns:a="http://schemas.openxmlformats.org/drawingml/2006/main">
            <a:pPr algn="ctr">
              <a:defRPr sz="2025" b="1">
                <a:solidFill>
                  <a:srgbClr val="F5F8FC"/>
                </a:solidFill>
              </a:defRPr>
            </a:pPr>
            <a:r>
              <a:rPr sz="2025" b="1">
                <a:solidFill>
                  <a:srgbClr val="F5F8FC"/>
                </a:solidFill>
              </a:rPr>
              <a:t>Chatbot vs ReAct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E817A-F7B8-4094-BB0D-59F31564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52625"/>
            <a:ext cx="2457450" cy="26193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BD655-9019-416F-BAB4-D6EFEA36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E6D5"/>
                </a:solidFill>
              </a:defRPr>
            </a:pPr>
            <a:r>
              <a:rPr sz="1200" b="1">
                <a:solidFill>
                  <a:srgbClr val="3EE6D5"/>
                </a:solidFill>
              </a:rPr>
              <a:t>ĐẦU VÀO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BDDDC-5C03-4F78-86AA-C4171BBD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8FC"/>
                </a:solidFill>
              </a:defRPr>
            </a:pPr>
            <a:r>
              <a:rPr sz="2025" b="1">
                <a:solidFill>
                  <a:srgbClr val="F5F8FC"/>
                </a:solidFill>
              </a:rPr>
              <a:t>Codelab</a:t>
            </a:r>
          </a:p>
          <a:p xmlns:a="http://schemas.openxmlformats.org/drawingml/2006/main">
            <a:pPr algn="ctr">
              <a:defRPr sz="2025" b="1">
                <a:solidFill>
                  <a:srgbClr val="F5F8FC"/>
                </a:solidFill>
              </a:defRPr>
            </a:pPr>
            <a:r>
              <a:rPr sz="2025" b="1">
                <a:solidFill>
                  <a:srgbClr val="F5F8FC"/>
                </a:solidFill>
              </a:rPr>
              <a:t>+ GitHub đề bài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ED994-B40A-473C-8506-50188724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2457450" cy="26193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621B4-056C-4572-8376-600CE2D1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E6D5"/>
                </a:solidFill>
              </a:defRPr>
            </a:pPr>
            <a:r>
              <a:rPr sz="1200" b="1">
                <a:solidFill>
                  <a:srgbClr val="3EE6D5"/>
                </a:solidFill>
              </a:rPr>
              <a:t>BÀI LÀM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5448E-36A3-4BE1-983C-EAF7A02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8FC"/>
                </a:solidFill>
              </a:defRPr>
            </a:pPr>
            <a:r>
              <a:rPr sz="2025" b="1">
                <a:solidFill>
                  <a:srgbClr val="F5F8FC"/>
                </a:solidFill>
              </a:rPr>
              <a:t>GitHub public</a:t>
            </a:r>
          </a:p>
          <a:p xmlns:a="http://schemas.openxmlformats.org/drawingml/2006/main">
            <a:pPr algn="ctr">
              <a:defRPr sz="2025" b="1">
                <a:solidFill>
                  <a:srgbClr val="F5F8FC"/>
                </a:solidFill>
              </a:defRPr>
            </a:pPr>
            <a:r>
              <a:rPr sz="2025" b="1">
                <a:solidFill>
                  <a:srgbClr val="F5F8FC"/>
                </a:solidFill>
              </a:rPr>
              <a:t>của học viên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66EC7-43EB-41D2-8822-04E369AC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52625"/>
            <a:ext cx="2457450" cy="261937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B9F3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1C4F8-084F-4F42-9938-50242673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717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F36A"/>
                </a:solidFill>
              </a:defRPr>
            </a:pPr>
            <a:r>
              <a:rPr sz="1200" b="1">
                <a:solidFill>
                  <a:srgbClr val="B9F36A"/>
                </a:solidFill>
              </a:rPr>
              <a:t>ĐẦU 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CED19-3CFE-48EA-B2EB-6D32530F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81300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8FC"/>
                </a:solidFill>
              </a:defRPr>
            </a:pPr>
            <a:r>
              <a:rPr sz="2025" b="1">
                <a:solidFill>
                  <a:srgbClr val="F5F8FC"/>
                </a:solidFill>
              </a:rPr>
              <a:t>READY / NOT READY</a:t>
            </a:r>
          </a:p>
          <a:p xmlns:a="http://schemas.openxmlformats.org/drawingml/2006/main">
            <a:pPr algn="ctr">
              <a:defRPr sz="2025" b="1">
                <a:solidFill>
                  <a:srgbClr val="F5F8FC"/>
                </a:solidFill>
              </a:defRPr>
            </a:pPr>
            <a:r>
              <a:rPr sz="2025" b="1">
                <a:solidFill>
                  <a:srgbClr val="F5F8FC"/>
                </a:solidFill>
              </a:rPr>
              <a:t>+ 01 rủi ro cao nhất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08CDD-6739-437E-9019-F5A0CE98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AA46D8-060D-4874-9ECF-F6F8EDCD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8FC"/>
                </a:solidFill>
              </a:defRPr>
            </a:pPr>
            <a:r>
              <a:rPr sz="1950" b="1">
                <a:solidFill>
                  <a:srgbClr val="F5F8FC"/>
                </a:solidFill>
              </a:rPr>
              <a:t>P0 = phạm vi đủ nhỏ để demo end-to-end, đủ sâu để chứng minh giá trị</a:t>
            </a:r>
          </a:p>
        </p:txBody>
      </p:sp>
    </p:spTree>
    <p:extLst>
      <p:ext uri="{BB962C8B-B14F-4D97-AF65-F5344CB8AC3E}">
        <p14:creationId xmlns:p14="http://schemas.microsoft.com/office/powerpoint/2010/main" val="20237439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1AA1D1-69CB-483B-941F-B830655B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03 · CORE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B0BC6-7EFC-41A0-A634-4A6E16DA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Sáu năng lực tạo nên hệ kiểm tra lai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46CAA-5BD6-44D8-BAF8-77575132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6FEFA-E21D-44E6-95DA-CD38B3ED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8C55F-DAA9-477A-B060-D6139942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EA344-2C92-4BE5-A005-9F3F75EA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A8FF"/>
          </a:solidFill>
          <a:ln xmlns:a="http://schemas.openxmlformats.org/drawingml/2006/main" w="0">
            <a:solidFill>
              <a:srgbClr val="53A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9A627-162D-49A3-821A-19BF23D5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01  Codelab &amp; Repo Extractor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DFCCA-2D68-4001-80A4-9B9386DC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Vision AI trích xuất yêu cầu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CAEF3-A260-4B7E-9FA1-894BCD7D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3333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3F071-7D89-46F4-B153-E6F405B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526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8F0DB-09BD-4138-9F52-FB38DEE1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050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02  Merger &amp; Conflict Detector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C1396-570B-4CF3-BA2C-96CD47BA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Hợp nhất, phát hiện lệch nguồn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53199-44E0-41FF-A0A0-38C684E0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3333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9B9D0-685E-4ADD-AED6-33558150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526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36A"/>
          </a:solidFill>
          <a:ln xmlns:a="http://schemas.openxmlformats.org/drawingml/2006/main" w="0">
            <a:solidFill>
              <a:srgbClr val="B9F3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64FDE-08E2-451C-9905-14E5AAF9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03  Requirement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CC07F-A38A-463E-A152-02F3455B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86000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Học viên duyệt trước khi scan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1331F-7051-4A6F-B7C0-8C6B83DA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3333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76941-E204-4230-A7E9-897D3FB0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A8FF"/>
          </a:solidFill>
          <a:ln xmlns:a="http://schemas.openxmlformats.org/drawingml/2006/main" w="0">
            <a:solidFill>
              <a:srgbClr val="53A8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F79B6-14C9-44D1-BE79-75BB1930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04  Deterministic Checker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77035-76DB-411C-A081-FF65AC46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File · AST · JSON · API key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143D2-BC56-44F5-A0EA-5B4C2C29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05225"/>
            <a:ext cx="3333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1D827-711C-4599-80D8-1E78C384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05225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08C3AB-BF87-4DAF-BE2F-2B860E2E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5762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05  Semantic Checker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384B1-6AF4-4B66-B579-E23E3302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38625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ReAct · RCA ·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4C1DE9-095A-418A-BDAA-F07B4444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05225"/>
            <a:ext cx="33337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486647-2F99-4A63-9B25-1E92699C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05225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8"/>
          </a:solidFill>
          <a:ln xmlns:a="http://schemas.openxmlformats.org/drawingml/2006/main" w="0">
            <a:solidFill>
              <a:srgbClr val="FF6B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66D5F-E81A-44F2-9B1C-1F7BDD9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06  Risk Ranker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24AF1E-CDB8-436C-990F-A959442C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38625"/>
            <a:ext cx="2933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Ưu tiên lỗi và hướng dẫn sửa</a:t>
            </a:r>
          </a:p>
        </p:txBody>
      </p:sp>
    </p:spTree>
    <p:extLst>
      <p:ext uri="{BB962C8B-B14F-4D97-AF65-F5344CB8AC3E}">
        <p14:creationId xmlns:p14="http://schemas.microsoft.com/office/powerpoint/2010/main" val="1074403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3881C4-16BC-4FB0-954D-F3CC9B7D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03 ·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1191F-A1F4-4CCF-8534-3E5E6A7E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Mở rộng theo độ tin cậy, không theo số lượng tính năng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490DF-3174-40B5-8DC6-B132BC83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EE4FC-B3BB-4416-8107-0D7B6821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A1914-CDAA-4539-979C-D6B6EEFF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9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BE299-C8F4-4B40-85A4-146FCF30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28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58ABB-B8B0-473F-9800-D823227C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EE6D5"/>
                </a:solidFill>
              </a:defRPr>
            </a:pPr>
            <a:r>
              <a:rPr sz="2100" b="1">
                <a:solidFill>
                  <a:srgbClr val="3EE6D5"/>
                </a:solidFill>
              </a:rPr>
              <a:t>MVP · P0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57151-D53E-4D94-B8A2-F183BBC4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4330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8FC"/>
                </a:solidFill>
              </a:defRPr>
            </a:pPr>
            <a:r>
              <a:rPr sz="1425" b="1">
                <a:solidFill>
                  <a:srgbClr val="F5F8FC"/>
                </a:solidFill>
              </a:rPr>
              <a:t>Lab 03</a:t>
            </a:r>
          </a:p>
          <a:p xmlns:a="http://schemas.openxmlformats.org/drawingml/2006/main">
            <a:pPr algn="ctr">
              <a:defRPr sz="1425" b="1">
                <a:solidFill>
                  <a:srgbClr val="F5F8FC"/>
                </a:solidFill>
              </a:defRPr>
            </a:pPr>
            <a:r>
              <a:rPr sz="1425" b="1">
                <a:solidFill>
                  <a:srgbClr val="F5F8FC"/>
                </a:solidFill>
              </a:rPr>
              <a:t>Public repo</a:t>
            </a:r>
          </a:p>
          <a:p xmlns:a="http://schemas.openxmlformats.org/drawingml/2006/main">
            <a:pPr algn="ctr">
              <a:defRPr sz="1425" b="1">
                <a:solidFill>
                  <a:srgbClr val="F5F8FC"/>
                </a:solidFill>
              </a:defRPr>
            </a:pPr>
            <a:r>
              <a:rPr sz="1425" b="1">
                <a:solidFill>
                  <a:srgbClr val="F5F8FC"/>
                </a:solidFill>
              </a:rPr>
              <a:t>Highest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CCF43-2C22-47A3-BD0E-EA36F50F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A8FF"/>
          </a:solidFill>
          <a:ln xmlns:a="http://schemas.openxmlformats.org/drawingml/2006/main" w="0">
            <a:solidFill>
              <a:srgbClr val="53A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B50BA-2F8E-4E1A-B3ED-3519D79A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3A8FF"/>
                </a:solidFill>
              </a:defRPr>
            </a:pPr>
            <a:r>
              <a:rPr sz="2100" b="1">
                <a:solidFill>
                  <a:srgbClr val="53A8FF"/>
                </a:solidFill>
              </a:rPr>
              <a:t>P1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4E7FE-E005-4A7A-9E25-D5CDE5B2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4330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8FC"/>
                </a:solidFill>
              </a:defRPr>
            </a:pPr>
            <a:r>
              <a:rPr sz="1425" b="1">
                <a:solidFill>
                  <a:srgbClr val="F5F8FC"/>
                </a:solidFill>
              </a:rPr>
              <a:t>Full checklist</a:t>
            </a:r>
          </a:p>
          <a:p xmlns:a="http://schemas.openxmlformats.org/drawingml/2006/main">
            <a:pPr algn="ctr">
              <a:defRPr sz="1425" b="1">
                <a:solidFill>
                  <a:srgbClr val="F5F8FC"/>
                </a:solidFill>
              </a:defRPr>
            </a:pPr>
            <a:r>
              <a:rPr sz="1425" b="1">
                <a:solidFill>
                  <a:srgbClr val="F5F8FC"/>
                </a:solidFill>
              </a:rPr>
              <a:t>Correction</a:t>
            </a:r>
          </a:p>
          <a:p xmlns:a="http://schemas.openxmlformats.org/drawingml/2006/main">
            <a:pPr algn="ctr">
              <a:defRPr sz="1425" b="1">
                <a:solidFill>
                  <a:srgbClr val="F5F8FC"/>
                </a:solidFill>
              </a:defRPr>
            </a:pPr>
            <a:r>
              <a:rPr sz="1425" b="1">
                <a:solidFill>
                  <a:srgbClr val="F5F8FC"/>
                </a:solidFill>
              </a:rPr>
              <a:t>ZIP + scan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C6217-046B-413F-BE60-19ED2A45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28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36A"/>
          </a:solidFill>
          <a:ln xmlns:a="http://schemas.openxmlformats.org/drawingml/2006/main" w="0">
            <a:solidFill>
              <a:srgbClr val="B9F3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FFC69-2617-4807-AA84-5CBB0038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81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9F36A"/>
                </a:solidFill>
              </a:defRPr>
            </a:pPr>
            <a:r>
              <a:rPr sz="2100" b="1">
                <a:solidFill>
                  <a:srgbClr val="B9F36A"/>
                </a:solidFill>
              </a:rPr>
              <a:t>P2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FA695-137B-4503-AE5C-81F34D5C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4330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8FC"/>
                </a:solidFill>
              </a:defRPr>
            </a:pPr>
            <a:r>
              <a:rPr sz="1425" b="1">
                <a:solidFill>
                  <a:srgbClr val="F5F8FC"/>
                </a:solidFill>
              </a:rPr>
              <a:t>Chrome Extension</a:t>
            </a:r>
          </a:p>
          <a:p xmlns:a="http://schemas.openxmlformats.org/drawingml/2006/main">
            <a:pPr algn="ctr">
              <a:defRPr sz="1425" b="1">
                <a:solidFill>
                  <a:srgbClr val="F5F8FC"/>
                </a:solidFill>
              </a:defRPr>
            </a:pPr>
            <a:r>
              <a:rPr sz="1425" b="1">
                <a:solidFill>
                  <a:srgbClr val="F5F8FC"/>
                </a:solidFill>
              </a:rPr>
              <a:t>Private repo OAuth</a:t>
            </a:r>
          </a:p>
          <a:p xmlns:a="http://schemas.openxmlformats.org/drawingml/2006/main">
            <a:pPr algn="ctr">
              <a:defRPr sz="1425" b="1">
                <a:solidFill>
                  <a:srgbClr val="F5F8FC"/>
                </a:solidFill>
              </a:defRPr>
            </a:pPr>
            <a:r>
              <a:rPr sz="1425" b="1">
                <a:solidFill>
                  <a:srgbClr val="F5F8FC"/>
                </a:solidFill>
              </a:rPr>
              <a:t>Code sandbox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F11F3-79E3-4094-9F7A-152CEC09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FC0D4"/>
                </a:solidFill>
              </a:defRPr>
            </a:pPr>
            <a:r>
              <a:rPr sz="1725" b="0">
                <a:solidFill>
                  <a:srgbClr val="AFC0D4"/>
                </a:solidFill>
              </a:rPr>
              <a:t>Mỗi bước mở rộng chỉ được mở khóa sau khi checker của bước trước đủ chính xác.</a:t>
            </a:r>
          </a:p>
        </p:txBody>
      </p:sp>
    </p:spTree>
    <p:extLst>
      <p:ext uri="{BB962C8B-B14F-4D97-AF65-F5344CB8AC3E}">
        <p14:creationId xmlns:p14="http://schemas.microsoft.com/office/powerpoint/2010/main" val="657064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8C37D2-ADB6-421D-8E0A-7A9FE794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04 · 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59C35-0087-4CE2-BB7B-387A4615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Bảy bước từ đề bài đến hành động sửa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D4D7D-F2B0-40AE-A900-2923339B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EA662-315D-4C93-98D1-2E28567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F5967-CD21-40CE-8A20-57DBB45F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1CB53-6DCE-44C5-A275-95F71A2C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241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B82E9-D63F-460D-B292-D286D6F3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603E9-4F0C-415C-8CC7-5147A7F9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Chọn Lab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16CB7-4251-4E0C-B9C2-608EF168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480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A69CE-68F0-4A3C-A4C4-420BEE4E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241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9B3E8-A9F9-4B1E-A3CC-1F1BBE56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03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1DA80-EC3A-4082-B048-2FF36451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62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Thêm nguồn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A51DF-0D96-4826-8889-51C3BD35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480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D1FEF-F014-4262-B538-378C0547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7241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0A98D-09D5-4528-8089-A989F5F5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03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7D6D5-22DA-4050-ACB8-EE4A3F42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62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AI tổng hợp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63C2E-2124-47AC-A5DD-9DA12E26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480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4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ADB09-94BE-4000-BE89-39031657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241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8224D-C11B-4AA8-AEE1-0C765A46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003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C5489-9156-41F6-89EF-89946A8C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62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Xác nhận pack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73D01-F2E5-41ED-A984-0E9AF7D8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4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7377D-CFDC-4001-ABFE-C535E23B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241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1E0CF6-A6A5-4C62-A762-25491804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003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6FF5F-72CB-45B8-97A2-37B22949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Dán repo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06F30-9C6F-4F7C-94EF-B475351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480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4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AC49D-D44A-4C8A-8669-07C81AB2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241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09C0B9-8191-4311-B023-B1C903B9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003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86ADB5-36A2-4EE0-84A9-39CD5243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Quét hybrid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374285-B162-4FC3-8BEC-A855B21A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724150"/>
            <a:ext cx="647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B9F36A"/>
          </a:solidFill>
          <a:ln xmlns:a="http://schemas.openxmlformats.org/drawingml/2006/main" w="0">
            <a:solidFill>
              <a:srgbClr val="B9F36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CA7CAA-1800-488F-8884-7A00B8FF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00350"/>
            <a:ext cx="43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F"/>
                </a:solidFill>
              </a:defRPr>
            </a:pPr>
            <a:r>
              <a:rPr sz="1800" b="1">
                <a:solidFill>
                  <a:srgbClr val="07111F"/>
                </a:solidFill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BBCEEC-FE5C-4124-86BD-56ADD525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Nhận kết quả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491AAC-40CD-4585-8CB4-2CDD7222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590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2538"/>
          </a:solidFill>
          <a:ln xmlns:a="http://schemas.openxmlformats.org/drawingml/2006/main" w="9525">
            <a:solidFill>
              <a:srgbClr val="3EE6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0C52ED-093F-4968-A0F8-A5F1549F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552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EE6D5"/>
                </a:solidFill>
              </a:defRPr>
            </a:pPr>
            <a:r>
              <a:rPr sz="1650" b="1">
                <a:solidFill>
                  <a:srgbClr val="3EE6D5"/>
                </a:solidFill>
              </a:rPr>
              <a:t>File → AST/Security → Semantic Review → Highest Risk</a:t>
            </a:r>
          </a:p>
        </p:txBody>
      </p:sp>
    </p:spTree>
    <p:extLst>
      <p:ext uri="{BB962C8B-B14F-4D97-AF65-F5344CB8AC3E}">
        <p14:creationId xmlns:p14="http://schemas.microsoft.com/office/powerpoint/2010/main" val="15838380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369B43-D7EA-44CA-AC42-5FE6889B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04 · UI /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D1003-00EE-433C-A947-26255800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Giao diện dẫn người học từ bằng chứng đến quyết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C3A80-3D89-49BC-80B3-985B2828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E90A9-DBC8-4EAA-8C19-B32E44C8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73C71-F129-476B-8AA6-49A8EC3A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333750" cy="39052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B1726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5AA74-FB93-4EA6-BDFA-7AD5C375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E6D5"/>
                </a:solidFill>
              </a:defRPr>
            </a:pPr>
            <a:r>
              <a:rPr sz="1200" b="1">
                <a:solidFill>
                  <a:srgbClr val="3EE6D5"/>
                </a:solidFill>
              </a:rPr>
              <a:t>1 · REQUIREMENT PACK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BDE66-98D0-4C0B-B800-8B48BA02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F1CD1-FAF2-4830-8E84-ADF7B841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95450"/>
            <a:ext cx="3333750" cy="39052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B1726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F59F9-9F10-45D2-B86E-586E397E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E6D5"/>
                </a:solidFill>
              </a:defRPr>
            </a:pPr>
            <a:r>
              <a:rPr sz="1200" b="1">
                <a:solidFill>
                  <a:srgbClr val="3EE6D5"/>
                </a:solidFill>
              </a:rPr>
              <a:t>2 · PROGRESS SCAN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D9FCB-3491-4D5B-911B-C1C50390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4790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CBF84-BFA9-42D8-ADCA-050683EF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3333750" cy="39052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B1726"/>
          </a:solidFill>
          <a:ln xmlns:a="http://schemas.openxmlformats.org/drawingml/2006/main" w="19050">
            <a:solidFill>
              <a:srgbClr val="FF6B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13E04-1A49-4978-9475-F9B3B634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78"/>
                </a:solidFill>
              </a:defRPr>
            </a:pPr>
            <a:r>
              <a:rPr sz="1200" b="1">
                <a:solidFill>
                  <a:srgbClr val="FF6B78"/>
                </a:solidFill>
              </a:rPr>
              <a:t>3 · RESULT 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4064E-F8A8-4455-B34B-A9DF26C7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299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A91B7-D92F-40E0-A509-0177598E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F8FC"/>
                </a:solidFill>
              </a:defRPr>
            </a:pPr>
            <a:r>
              <a:rPr sz="1350" b="0">
                <a:solidFill>
                  <a:srgbClr val="F5F8FC"/>
                </a:solidFill>
              </a:rPr>
              <a:t>✓ README requirements</a:t>
            </a:r>
          </a:p>
          <a:p xmlns:a="http://schemas.openxmlformats.org/drawingml/2006/main">
            <a:pPr algn="l">
              <a:defRPr sz="1350" b="0">
                <a:solidFill>
                  <a:srgbClr val="F5F8FC"/>
                </a:solidFill>
              </a:defRPr>
            </a:pPr>
            <a:r>
              <a:rPr sz="1350" b="0">
                <a:solidFill>
                  <a:srgbClr val="F5F8FC"/>
                </a:solidFill>
              </a:rPr>
              <a:t>✓ Codelab steps</a:t>
            </a:r>
          </a:p>
          <a:p xmlns:a="http://schemas.openxmlformats.org/drawingml/2006/main">
            <a:pPr algn="l">
              <a:defRPr sz="1350" b="0">
                <a:solidFill>
                  <a:srgbClr val="F5F8FC"/>
                </a:solidFill>
              </a:defRPr>
            </a:pPr>
            <a:r>
              <a:rPr sz="1350" b="0">
                <a:solidFill>
                  <a:srgbClr val="F5F8FC"/>
                </a:solidFill>
              </a:rPr>
              <a:t>⚠ Conflict: flowchart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B5317-4245-4150-9513-046A1967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6954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2230"/>
          </a:solidFill>
          <a:ln xmlns:a="http://schemas.openxmlformats.org/drawingml/2006/main" w="9525">
            <a:solidFill>
              <a:srgbClr val="3EE6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8915F-4727-4183-B84F-D6C9EFE5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EE6D5"/>
                </a:solidFill>
              </a:defRPr>
            </a:pPr>
            <a:r>
              <a:rPr sz="1050" b="1">
                <a:solidFill>
                  <a:srgbClr val="3EE6D5"/>
                </a:solidFill>
              </a:rPr>
              <a:t>CONFIRM PACK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B7EBD-8692-49FC-B93D-A0CCBEA4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</a:defRPr>
            </a:pPr>
            <a:r>
              <a:rPr sz="1275" b="1">
                <a:solidFill>
                  <a:srgbClr val="F5F8FC"/>
                </a:solidFill>
              </a:rPr>
              <a:t>Files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0194D-8592-4E56-A61E-BEDF3BA1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1143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EC424-3898-45DA-969D-91920816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</a:defRPr>
            </a:pPr>
            <a:r>
              <a:rPr sz="1275" b="1">
                <a:solidFill>
                  <a:srgbClr val="F5F8FC"/>
                </a:solidFill>
              </a:rPr>
              <a:t>AST / 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D4D95-D2B2-486C-B09A-509A5A71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1143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02EB5-769B-4158-87FE-3E6C4009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</a:defRPr>
            </a:pPr>
            <a:r>
              <a:rPr sz="1275" b="1">
                <a:solidFill>
                  <a:srgbClr val="F5F8FC"/>
                </a:solidFill>
              </a:rPr>
              <a:t>Semantic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73D10-4433-4322-B40D-1112B6B9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1143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75C55-011D-4022-A7FA-65AAE3DA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48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</a:defRPr>
            </a:pPr>
            <a:r>
              <a:rPr sz="1275" b="1">
                <a:solidFill>
                  <a:srgbClr val="F5F8FC"/>
                </a:solidFill>
              </a:rPr>
              <a:t>Rank risk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FB6DB-AB23-4A6D-B5CD-926AC017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1143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45F"/>
          </a:solidFill>
          <a:ln xmlns:a="http://schemas.openxmlformats.org/drawingml/2006/main" w="0">
            <a:solidFill>
              <a:srgbClr val="2944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DA1FB4-6FFD-490A-A098-20EDD5FA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78"/>
                </a:solidFill>
              </a:defRPr>
            </a:pPr>
            <a:r>
              <a:rPr sz="2250" b="1">
                <a:solidFill>
                  <a:srgbClr val="FF6B78"/>
                </a:solidFill>
              </a:rPr>
              <a:t>NOT 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DAE1AC-945C-4B42-A15A-2E3D7BDF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2838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ReAct Agent chưa chọn Tool động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AB2E84-E7EB-49BF-954D-B62AA7AA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29050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Evidence</a:t>
            </a:r>
          </a:p>
          <a:p xmlns:a="http://schemas.openxmlformats.org/drawingml/2006/main">
            <a:pPr algn="ctr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src/app.py · line 84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9AE3A1-3456-4FCF-89B1-CE305751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23812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2230"/>
          </a:solidFill>
          <a:ln xmlns:a="http://schemas.openxmlformats.org/drawingml/2006/main" w="9525">
            <a:solidFill>
              <a:srgbClr val="FFC85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8EDDB4-38C8-4DE6-8AB6-3FEF6D33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C857"/>
                </a:solidFill>
              </a:defRPr>
            </a:pPr>
            <a:r>
              <a:rPr sz="1050" b="1">
                <a:solidFill>
                  <a:srgbClr val="FFC857"/>
                </a:solidFill>
              </a:rPr>
              <a:t>5 BƯỚC KHẮC PHỤC</a:t>
            </a:r>
          </a:p>
        </p:txBody>
      </p:sp>
    </p:spTree>
    <p:extLst>
      <p:ext uri="{BB962C8B-B14F-4D97-AF65-F5344CB8AC3E}">
        <p14:creationId xmlns:p14="http://schemas.microsoft.com/office/powerpoint/2010/main" val="2265010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FD4153-C834-46F8-BC26-596B3C15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04 ·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A76CF-F154-44C3-8A95-D77AB10C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Demo chứng minh vòng lặp: phát hiện → sửa → kiểm tra lại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46760-B448-46DD-9F47-FE391B01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48BEC-1B4E-4D8B-874A-EE0A2AF4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19CF7-FB2A-4614-BA00-31CAFE82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18056-06EA-4C20-900E-F9D86947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78"/>
          </a:solidFill>
          <a:ln xmlns:a="http://schemas.openxmlformats.org/drawingml/2006/main" w="0">
            <a:solidFill>
              <a:srgbClr val="FF6B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54ACE-2A24-40BD-8C1C-49AA6C3D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CASE 1 · NOT 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59B16-81E8-4123-8827-438966CF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4577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Repo thiếu config/test_cases.json hoặc ReAct loop hard-code.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Kết quả: CRITICAL + bằng chứng + lý do chưa nên nộp.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62C7C-195F-4BB5-88A4-79EA249A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273EF-8DC9-4252-ACFB-A6460A8A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097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36A"/>
          </a:solidFill>
          <a:ln xmlns:a="http://schemas.openxmlformats.org/drawingml/2006/main" w="0">
            <a:solidFill>
              <a:srgbClr val="B9F3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75E41-AAD0-4ACF-A957-26068235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621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</a:defRPr>
            </a:pPr>
            <a:r>
              <a:rPr sz="1575" b="1">
                <a:solidFill>
                  <a:srgbClr val="F5F8FC"/>
                </a:solidFill>
              </a:rPr>
              <a:t>CASE 2 · RE-CHECK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D7FEF-C39D-46EA-89D5-2769EBBA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43150"/>
            <a:ext cx="44577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Học viên sửa code và push commit mới.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Kết quả: FAIL → PASS; hệ thống hiển thị rủi ro tiếp theo.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A1CA5-99BF-472B-AF63-7B08335D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76625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E6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09B17-7147-4061-BDDB-68AFC088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62325"/>
            <a:ext cx="2286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6B7DED-91A5-47A2-983E-A69D4DF6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29250"/>
            <a:ext cx="19812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2230"/>
          </a:solidFill>
          <a:ln xmlns:a="http://schemas.openxmlformats.org/drawingml/2006/main" w="9525">
            <a:solidFill>
              <a:srgbClr val="3EE6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CAAA1-DA99-4CA4-BFE5-DB28BE2A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292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EE6D5"/>
                </a:solidFill>
              </a:defRPr>
            </a:pPr>
            <a:r>
              <a:rPr sz="1050" b="1">
                <a:solidFill>
                  <a:srgbClr val="3EE6D5"/>
                </a:solidFill>
              </a:rPr>
              <a:t>SỬA TRÊN GITHUB</a:t>
            </a:r>
          </a:p>
        </p:txBody>
      </p:sp>
    </p:spTree>
    <p:extLst>
      <p:ext uri="{BB962C8B-B14F-4D97-AF65-F5344CB8AC3E}">
        <p14:creationId xmlns:p14="http://schemas.microsoft.com/office/powerpoint/2010/main" val="16285277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1E0A1B-CA1C-4013-98C0-9001CB11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05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299B4-17CD-434B-9A81-F8497F0D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Kiến trúc tách rõ nguồn, chuẩn chấm và engine kiểm 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4E300-D444-4422-B280-7FC692C5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80ACA-2BA4-4533-9D08-088C70A0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DDF5F-0EF5-4123-A10C-25AAD2D9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62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D731E-DB1E-442B-8B59-C23E29F6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0"/>
            <a:ext cx="2038350" cy="24765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53A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CCB44-F3FA-4EA9-926C-FD3D22AB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A8FF"/>
                </a:solidFill>
              </a:defRPr>
            </a:pPr>
            <a:r>
              <a:rPr sz="1275" b="1">
                <a:solidFill>
                  <a:srgbClr val="53A8FF"/>
                </a:solidFill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EC34B-FF40-4125-8E70-10D44F0C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695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Next.js</a:t>
            </a:r>
          </a:p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Tailwind CSS</a:t>
            </a:r>
          </a:p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No login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EC1B9-D46A-4A12-8889-B1F8447D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62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EA052-5C49-4005-9589-F0FE5EF9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2038350" cy="24765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3EE6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B625D-BF1C-473C-9F47-DCFD6E64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EE6D5"/>
                </a:solidFill>
              </a:defRPr>
            </a:pPr>
            <a:r>
              <a:rPr sz="1275" b="1">
                <a:solidFill>
                  <a:srgbClr val="3EE6D5"/>
                </a:solidFill>
              </a:rPr>
              <a:t>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A2E46-D89C-49FD-A2EF-0B58687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1695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FastAPI</a:t>
            </a:r>
          </a:p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Session API</a:t>
            </a:r>
          </a:p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GitHub Reader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C8290-C3C9-4612-AFF7-26F04DD5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CE021-9C48-4EA7-B685-CA026352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0250"/>
            <a:ext cx="2038350" cy="24765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6D128-6985-4943-A78B-5094E7CB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098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C857"/>
                </a:solidFill>
              </a:defRPr>
            </a:pPr>
            <a:r>
              <a:rPr sz="1275" b="1">
                <a:solidFill>
                  <a:srgbClr val="FFC857"/>
                </a:solidFill>
              </a:rPr>
              <a:t>REQUIREMENT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4E1CE-9363-406B-BD43-69FCB913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00350"/>
            <a:ext cx="1695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Vision Extractor</a:t>
            </a:r>
          </a:p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Merger</a:t>
            </a:r>
          </a:p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assignment-pack.yaml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D2ABD7-D82E-4DB5-A4D5-ECCFE3AA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623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4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518C6-D782-4FDA-8242-269DA2DD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0250"/>
            <a:ext cx="2038350" cy="24765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B9F3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5D43F-4210-454B-B8CA-EFC7F933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098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F36A"/>
                </a:solidFill>
              </a:defRPr>
            </a:pPr>
            <a:r>
              <a:rPr sz="1275" b="1">
                <a:solidFill>
                  <a:srgbClr val="B9F36A"/>
                </a:solidFill>
              </a:rPr>
              <a:t>CHECKER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D27C47-B8EB-4358-8047-691C52AA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1695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Python AST</a:t>
            </a:r>
          </a:p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JSON + Security</a:t>
            </a:r>
          </a:p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LLM Semantic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BFC64-1F6C-48E8-98D8-52D23822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0250"/>
            <a:ext cx="2038350" cy="247650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FF6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350B30-B439-428B-A917-565E9566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0980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78"/>
                </a:solidFill>
              </a:defRPr>
            </a:pPr>
            <a:r>
              <a:rPr sz="1275" b="1">
                <a:solidFill>
                  <a:srgbClr val="FF6B78"/>
                </a:solidFill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41491-AB54-4AB1-9342-64C295F6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0350"/>
            <a:ext cx="1695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Risk Ranker</a:t>
            </a:r>
          </a:p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Severity × Impact</a:t>
            </a:r>
          </a:p>
          <a:p xmlns:a="http://schemas.openxmlformats.org/drawingml/2006/main">
            <a:pPr algn="ctr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× 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09C38B-7FF2-49B4-B381-9F7ECF46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29200"/>
            <a:ext cx="422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C857"/>
                </a:solidFill>
              </a:defRPr>
            </a:pPr>
            <a:r>
              <a:rPr sz="1875" b="1">
                <a:solidFill>
                  <a:srgbClr val="FFC857"/>
                </a:solidFill>
              </a:rPr>
              <a:t>Single Source of Truth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893C9-C9FB-4C50-AE47-CB943C92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673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FC0D4"/>
                </a:solidFill>
              </a:defRPr>
            </a:pPr>
            <a:r>
              <a:rPr sz="1350" b="0">
                <a:solidFill>
                  <a:srgbClr val="AFC0D4"/>
                </a:solidFill>
              </a:rPr>
              <a:t>assignment-pack.yaml kết nối yêu cầu đã xác nhận với mọi checker.</a:t>
            </a:r>
          </a:p>
        </p:txBody>
      </p:sp>
    </p:spTree>
    <p:extLst>
      <p:ext uri="{BB962C8B-B14F-4D97-AF65-F5344CB8AC3E}">
        <p14:creationId xmlns:p14="http://schemas.microsoft.com/office/powerpoint/2010/main" val="15409798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3B4B90-D931-49F0-AF2E-3F7460E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05 · DATA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1A9FC-1BA7-4813-825C-9F111739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Requirement Pack biến đánh giá AI thành kiểm tra có căn cứ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0FB47-BBCD-43B8-9C18-53B2D0E2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7823A-E29F-4916-B458-133DF88D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A2065-0B51-4CD7-89AE-E11A997C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1726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849C4-8C9C-4A91-BD02-CD16678A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C857"/>
                </a:solidFill>
              </a:defRPr>
            </a:pPr>
            <a:r>
              <a:rPr sz="1800" b="1">
                <a:solidFill>
                  <a:srgbClr val="FFC857"/>
                </a:solidFill>
              </a:rPr>
              <a:t>assignment-pack.yaml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263A1-1668-4318-A754-F1BE7810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8FC"/>
                </a:solidFill>
              </a:defRPr>
            </a:pPr>
            <a:r>
              <a:rPr sz="1425" b="0">
                <a:solidFill>
                  <a:srgbClr val="F5F8FC"/>
                </a:solidFill>
              </a:rPr>
              <a:t>requirement:</a:t>
            </a:r>
          </a:p>
          <a:p xmlns:a="http://schemas.openxmlformats.org/drawingml/2006/main">
            <a:pPr algn="l">
              <a:defRPr sz="1425" b="0">
                <a:solidFill>
                  <a:srgbClr val="F5F8FC"/>
                </a:solidFill>
              </a:defRPr>
            </a:pPr>
            <a:r>
              <a:rPr sz="1425" b="0">
                <a:solidFill>
                  <a:srgbClr val="F5F8FC"/>
                </a:solidFill>
              </a:rPr>
              <a:t>  id: REACT_03</a:t>
            </a:r>
          </a:p>
          <a:p xmlns:a="http://schemas.openxmlformats.org/drawingml/2006/main">
            <a:pPr algn="l">
              <a:defRPr sz="1425" b="0">
                <a:solidFill>
                  <a:srgbClr val="F5F8FC"/>
                </a:solidFill>
              </a:defRPr>
            </a:pPr>
            <a:r>
              <a:rPr sz="1425" b="0">
                <a:solidFill>
                  <a:srgbClr val="F5F8FC"/>
                </a:solidFill>
              </a:rPr>
              <a:t>  title: Dynamic tool selection</a:t>
            </a:r>
          </a:p>
          <a:p xmlns:a="http://schemas.openxmlformats.org/drawingml/2006/main">
            <a:pPr algn="l">
              <a:defRPr sz="1425" b="0">
                <a:solidFill>
                  <a:srgbClr val="F5F8FC"/>
                </a:solidFill>
              </a:defRPr>
            </a:pPr>
            <a:r>
              <a:rPr sz="1425" b="0">
                <a:solidFill>
                  <a:srgbClr val="F5F8FC"/>
                </a:solidFill>
              </a:rPr>
              <a:t>  severity: critical</a:t>
            </a:r>
          </a:p>
          <a:p xmlns:a="http://schemas.openxmlformats.org/drawingml/2006/main">
            <a:pPr algn="l">
              <a:defRPr sz="1425" b="0">
                <a:solidFill>
                  <a:srgbClr val="F5F8FC"/>
                </a:solidFill>
              </a:defRPr>
            </a:pPr>
            <a:r>
              <a:rPr sz="1425" b="0">
                <a:solidFill>
                  <a:srgbClr val="F5F8FC"/>
                </a:solidFill>
              </a:rPr>
              <a:t>  sources: [codelab, rubric]</a:t>
            </a:r>
          </a:p>
          <a:p xmlns:a="http://schemas.openxmlformats.org/drawingml/2006/main">
            <a:pPr algn="l">
              <a:defRPr sz="1425" b="0">
                <a:solidFill>
                  <a:srgbClr val="F5F8FC"/>
                </a:solidFill>
              </a:defRPr>
            </a:pPr>
            <a:r>
              <a:rPr sz="1425" b="0">
                <a:solidFill>
                  <a:srgbClr val="F5F8FC"/>
                </a:solidFill>
              </a:rPr>
              <a:t>  checker: semantic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FCDFE-162C-4404-A9FC-451B0038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52006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EE6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768D3-49D4-407A-A04D-D9DF3D65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EE6D5"/>
                </a:solidFill>
              </a:defRPr>
            </a:pPr>
            <a:r>
              <a:rPr sz="1500" b="1">
                <a:solidFill>
                  <a:srgbClr val="3EE6D5"/>
                </a:solidFill>
              </a:rPr>
              <a:t>FINDING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DE0CE-75CC-4738-B745-CDCB2124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C72AC-658C-49EE-90EE-383717C9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Requirement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A8F4C-9124-4915-AA48-A191567C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09875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Liên kết về chuẩn chấm đã xác nhận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D747D-E159-4BB3-BF85-0D2EB9C5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00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A8FF"/>
          </a:solidFill>
          <a:ln xmlns:a="http://schemas.openxmlformats.org/drawingml/2006/main" w="0">
            <a:solidFill>
              <a:srgbClr val="53A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82A51-E12B-4EE5-B54F-AF0D65EF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7AFCD-11BC-4C6A-AEED-A421B7CF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195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pass · fail ·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4A091-8AA1-4A97-9FB0-7524D99E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D93DA5-F1C6-4506-8CAD-570BF3E3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57E7F-8F97-43EC-B552-603A8711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29125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file · line number · đoạn logic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B028C6-B6C4-41BF-9F7F-57531AFD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36A"/>
          </a:solidFill>
          <a:ln xmlns:a="http://schemas.openxmlformats.org/drawingml/2006/main" w="0">
            <a:solidFill>
              <a:srgbClr val="B9F3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25929-2187-4CDD-B409-AD8C75BF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9105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Recommended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3B168-4E44-456F-99B4-CE0CD290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768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Bước sửa tiếp theo, không đưa code hoàn chỉnh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E4907-A869-4E82-8C70-A6B30566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245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C"/>
                </a:solidFill>
              </a:defRPr>
            </a:pPr>
            <a:r>
              <a:rPr sz="1650" b="1">
                <a:solidFill>
                  <a:srgbClr val="F5F8FC"/>
                </a:solidFill>
              </a:rPr>
              <a:t>AI không chấm theo “trí nhớ” — AI chấm theo pack đã được con người xác nhận.</a:t>
            </a:r>
          </a:p>
        </p:txBody>
      </p:sp>
    </p:spTree>
    <p:extLst>
      <p:ext uri="{BB962C8B-B14F-4D97-AF65-F5344CB8AC3E}">
        <p14:creationId xmlns:p14="http://schemas.microsoft.com/office/powerpoint/2010/main" val="7446518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A400DB-889D-436F-8C1A-718ABE62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06 · AI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920A4-541B-4836-82C7-612F8FE1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Ba guardrail bảo vệ việc học và dữ liệu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A6C52-56F6-42D9-AB82-91F8F79A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D5771-466B-461E-95A3-5465B860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CCF9F-5D68-4BE3-8AD6-61BB5A08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3EE6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9B92F2-88DD-4D4D-94BF-719AADDC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EE6D5"/>
                </a:solidFill>
              </a:defRPr>
            </a:pPr>
            <a:r>
              <a:rPr sz="3150" b="1">
                <a:solidFill>
                  <a:srgbClr val="3EE6D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F96E7-5E72-4588-9713-1DB71C02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</a:defRPr>
            </a:pPr>
            <a:r>
              <a:rPr sz="1650" b="1">
                <a:solidFill>
                  <a:srgbClr val="F5F8FC"/>
                </a:solidFill>
              </a:rPr>
              <a:t>KHÔNG LÀM HỘ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DA14E-2CCE-4BA0-A90C-683F2147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D4"/>
                </a:solidFill>
              </a:defRPr>
            </a:pPr>
            <a:r>
              <a:rPr sz="1350" b="0">
                <a:solidFill>
                  <a:srgbClr val="AFC0D4"/>
                </a:solidFill>
              </a:rPr>
              <a:t>Gợi ý logic và bước kiểm tra; không sinh hàng trăm dòng code để copy.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A8E22-B1AA-4800-B908-97D087FA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FF6B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C17B9-92AD-4043-8147-641DEBFA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78"/>
                </a:solidFill>
              </a:defRPr>
            </a:pPr>
            <a:r>
              <a:rPr sz="3150" b="1">
                <a:solidFill>
                  <a:srgbClr val="FF6B7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8606C-8B9C-4993-A326-8317BCB5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289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</a:defRPr>
            </a:pPr>
            <a:r>
              <a:rPr sz="1650" b="1">
                <a:solidFill>
                  <a:srgbClr val="F5F8FC"/>
                </a:solidFill>
              </a:rPr>
              <a:t>BẢO MẬT MẶC ĐỊNH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800BF-3CB9-445B-AB5D-0EE576CC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D4"/>
                </a:solidFill>
              </a:defRPr>
            </a:pPr>
            <a:r>
              <a:rPr sz="1350" b="0">
                <a:solidFill>
                  <a:srgbClr val="AFC0D4"/>
                </a:solidFill>
              </a:rPr>
              <a:t>Phát hiện .env, token và API key trong repo public.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8C9E2-0F2B-4C9A-8916-9423C217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62150"/>
            <a:ext cx="3333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B9F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D5A7E-8C5D-49C7-837B-374208BD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9F36A"/>
                </a:solidFill>
              </a:defRPr>
            </a:pPr>
            <a:r>
              <a:rPr sz="3150" b="1">
                <a:solidFill>
                  <a:srgbClr val="B9F36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DFE76-734D-424F-9A52-4C3177FA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</a:defRPr>
            </a:pPr>
            <a:r>
              <a:rPr sz="1650" b="1">
                <a:solidFill>
                  <a:srgbClr val="F5F8FC"/>
                </a:solidFill>
              </a:rPr>
              <a:t>CON NGƯỜI QUYẾT ĐỊNH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74211-8749-4C5A-87C1-145FD1D3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876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FC0D4"/>
                </a:solidFill>
              </a:defRPr>
            </a:pPr>
            <a:r>
              <a:rPr sz="1350" b="0">
                <a:solidFill>
                  <a:srgbClr val="AFC0D4"/>
                </a:solidFill>
              </a:rPr>
              <a:t>Cho phép báo “AI đọc sai code” và chuyển sang review.</a:t>
            </a:r>
          </a:p>
        </p:txBody>
      </p:sp>
    </p:spTree>
    <p:extLst>
      <p:ext uri="{BB962C8B-B14F-4D97-AF65-F5344CB8AC3E}">
        <p14:creationId xmlns:p14="http://schemas.microsoft.com/office/powerpoint/2010/main" val="6140824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A331A4-A028-44EC-877A-B824A93A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06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D4172-1A0E-40F8-8500-E806A0E8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Chất lượng AI được đo bằng lỗi thật, không bằng cảm giác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D5D5F-7196-418A-8724-1B6A432A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624BD-AABF-4A4C-98D6-7FD7BF1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ED78F-C302-4DAC-BB64-A03AA7B0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342900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0B1726"/>
          </a:solidFill>
          <a:ln xmlns:a="http://schemas.openxmlformats.org/drawingml/2006/main" w="19050">
            <a:solidFill>
              <a:srgbClr val="3EE6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D1C71-DB8F-41CA-B177-3EA46514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EE6D5"/>
                </a:solidFill>
              </a:defRPr>
            </a:pPr>
            <a:r>
              <a:rPr sz="1650" b="1">
                <a:solidFill>
                  <a:srgbClr val="3EE6D5"/>
                </a:solidFill>
              </a:rPr>
              <a:t>GOLDEN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A00A9-AA18-4ACC-A45D-07790929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895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F8FC"/>
                </a:solidFill>
              </a:defRPr>
            </a:pPr>
            <a:r>
              <a:rPr sz="2550" b="1">
                <a:solidFill>
                  <a:srgbClr val="F5F8FC"/>
                </a:solidFill>
              </a:rPr>
              <a:t>eval/</a:t>
            </a:r>
          </a:p>
          <a:p xmlns:a="http://schemas.openxmlformats.org/drawingml/2006/main">
            <a:pPr algn="ctr">
              <a:defRPr sz="2550" b="1">
                <a:solidFill>
                  <a:srgbClr val="F5F8FC"/>
                </a:solidFill>
              </a:defRPr>
            </a:pPr>
            <a:r>
              <a:rPr sz="2550" b="1">
                <a:solidFill>
                  <a:srgbClr val="F5F8FC"/>
                </a:solidFill>
              </a:rPr>
              <a:t>golden_cases.json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0CD67-5B48-487D-9EE1-C132E795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9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FC0D4"/>
                </a:solidFill>
              </a:defRPr>
            </a:pPr>
            <a:r>
              <a:rPr sz="1275" b="0">
                <a:solidFill>
                  <a:srgbClr val="AFC0D4"/>
                </a:solidFill>
              </a:rPr>
              <a:t>Repo chuẩn · Repo lỗi</a:t>
            </a:r>
          </a:p>
          <a:p xmlns:a="http://schemas.openxmlformats.org/drawingml/2006/main">
            <a:pPr algn="ctr">
              <a:defRPr sz="1275" b="0">
                <a:solidFill>
                  <a:srgbClr val="AFC0D4"/>
                </a:solidFill>
              </a:defRPr>
            </a:pPr>
            <a:r>
              <a:rPr sz="1275" b="0">
                <a:solidFill>
                  <a:srgbClr val="AFC0D4"/>
                </a:solidFill>
              </a:rPr>
              <a:t>Expected findings</a:t>
            </a:r>
          </a:p>
          <a:p xmlns:a="http://schemas.openxmlformats.org/drawingml/2006/main">
            <a:pPr algn="ctr">
              <a:defRPr sz="1275" b="0">
                <a:solidFill>
                  <a:srgbClr val="AFC0D4"/>
                </a:solidFill>
              </a:defRPr>
            </a:pPr>
            <a:r>
              <a:rPr sz="1275" b="0">
                <a:solidFill>
                  <a:srgbClr val="AFC0D4"/>
                </a:solidFill>
              </a:rPr>
              <a:t>Expected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76FC7-F432-4278-9EEB-165B4B9B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66900"/>
            <a:ext cx="6819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948E4-054B-4A90-9750-FFBF256D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38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F36A"/>
                </a:solidFill>
              </a:defRPr>
            </a:pPr>
            <a:r>
              <a:rPr sz="1350" b="1">
                <a:solidFill>
                  <a:srgbClr val="B9F36A"/>
                </a:solidFill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6B6549-4BC9-4A38-97B9-544ADDE2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Bao nhiêu cảnh báo là lỗi thật?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14719-BC2A-441C-B9B2-667203E9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6819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BEDB6-BF51-40F7-BC2B-172226AE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00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A8FF"/>
                </a:solidFill>
              </a:defRPr>
            </a:pPr>
            <a:r>
              <a:rPr sz="1350" b="1">
                <a:solidFill>
                  <a:srgbClr val="53A8FF"/>
                </a:solidFill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9A0E6-9E23-4CA8-8514-7DEEB8A8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Bao nhiêu lỗi thật được phát hiện?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6E875-2B94-4CBD-99B5-569173D2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68199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1B2D5-30AA-4905-9A1E-157C41E1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62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857"/>
                </a:solidFill>
              </a:defRPr>
            </a:pPr>
            <a:r>
              <a:rPr sz="1350" b="1">
                <a:solidFill>
                  <a:srgbClr val="FFC857"/>
                </a:solidFill>
              </a:rPr>
              <a:t>EXTRACTION 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65086-2CB4-4EC7-8149-A8E207B1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</a:defRPr>
            </a:pPr>
            <a:r>
              <a:rPr sz="1350" b="1">
                <a:solidFill>
                  <a:srgbClr val="F5F8FC"/>
                </a:solidFill>
              </a:rPr>
              <a:t>Yêu cầu từ ảnh được trích đúng?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9ABF8-015A-459F-AE0D-A5056D24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62600"/>
            <a:ext cx="681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78"/>
                </a:solidFill>
              </a:defRPr>
            </a:pPr>
            <a:r>
              <a:rPr sz="1575" b="1">
                <a:solidFill>
                  <a:srgbClr val="FF6B78"/>
                </a:solidFill>
              </a:rPr>
              <a:t>Ưu tiên giảm False Positive: cảnh báo sai làm mất niềm tin nhanh hơn.</a:t>
            </a:r>
          </a:p>
        </p:txBody>
      </p:sp>
    </p:spTree>
    <p:extLst>
      <p:ext uri="{BB962C8B-B14F-4D97-AF65-F5344CB8AC3E}">
        <p14:creationId xmlns:p14="http://schemas.microsoft.com/office/powerpoint/2010/main" val="21063254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68884E-B713-4800-845F-B1BD4704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06 ·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0CC9F-CB3C-4E43-9C91-D727F08A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Bốn tuần để đi từ checker nền tảng đến demo tin cậy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0F68C-A9FD-4983-AFAF-A306C26C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AF069-6D2D-449A-8CC4-4762A9A5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C0B3C-CF01-48CB-B9E8-9E85C353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57450" cy="28575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53A8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7B376-450D-4F5F-8B2B-2A80A804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A8FF"/>
                </a:solidFill>
              </a:defRPr>
            </a:pPr>
            <a:r>
              <a:rPr sz="1350" b="1">
                <a:solidFill>
                  <a:srgbClr val="53A8FF"/>
                </a:solidFill>
              </a:rPr>
              <a:t>TUẦN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36DDA-F673-4C16-B2F4-3968E3AB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5F8FC"/>
                </a:solidFill>
              </a:defRPr>
            </a:pPr>
            <a:r>
              <a:rPr sz="4800" b="1">
                <a:solidFill>
                  <a:srgbClr val="F5F8FC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D1E07-720D-4DC6-B2DA-EBA37167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FC0D4"/>
                </a:solidFill>
              </a:defRPr>
            </a:pPr>
            <a:r>
              <a:rPr sz="1350" b="0">
                <a:solidFill>
                  <a:srgbClr val="AFC0D4"/>
                </a:solidFill>
              </a:rPr>
              <a:t>Backend + GitHub API</a:t>
            </a:r>
          </a:p>
          <a:p xmlns:a="http://schemas.openxmlformats.org/drawingml/2006/main">
            <a:pPr algn="ctr">
              <a:defRPr sz="1350" b="0">
                <a:solidFill>
                  <a:srgbClr val="AFC0D4"/>
                </a:solidFill>
              </a:defRPr>
            </a:pPr>
            <a:r>
              <a:rPr sz="1350" b="0">
                <a:solidFill>
                  <a:srgbClr val="AFC0D4"/>
                </a:solidFill>
              </a:rPr>
              <a:t>AST · JSON · Security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2F549-3278-4122-AC68-D5A09B48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2457450" cy="28575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3EE6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A127B-FDAE-4D47-A427-DA9BF32E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E6D5"/>
                </a:solidFill>
              </a:defRPr>
            </a:pPr>
            <a:r>
              <a:rPr sz="1350" b="1">
                <a:solidFill>
                  <a:srgbClr val="3EE6D5"/>
                </a:solidFill>
              </a:rPr>
              <a:t>TUẦN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8B5C3-506B-473B-865F-BED93C60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5F8FC"/>
                </a:solidFill>
              </a:defRPr>
            </a:pPr>
            <a:r>
              <a:rPr sz="4800" b="1">
                <a:solidFill>
                  <a:srgbClr val="F5F8FC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67C2B-59BD-43A9-BFAC-0829FD04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3380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FC0D4"/>
                </a:solidFill>
              </a:defRPr>
            </a:pPr>
            <a:r>
              <a:rPr sz="1350" b="0">
                <a:solidFill>
                  <a:srgbClr val="AFC0D4"/>
                </a:solidFill>
              </a:rPr>
              <a:t>Vision Extractor</a:t>
            </a:r>
          </a:p>
          <a:p xmlns:a="http://schemas.openxmlformats.org/drawingml/2006/main">
            <a:pPr algn="ctr">
              <a:defRPr sz="1350" b="0">
                <a:solidFill>
                  <a:srgbClr val="AFC0D4"/>
                </a:solidFill>
              </a:defRPr>
            </a:pPr>
            <a:r>
              <a:rPr sz="1350" b="0">
                <a:solidFill>
                  <a:srgbClr val="AFC0D4"/>
                </a:solidFill>
              </a:rPr>
              <a:t>Merger · Risk Ranker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C6B54-73C3-45FB-8907-081E21F3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457450" cy="28575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4BBE3-64BD-49E4-897D-ED4969BC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857"/>
                </a:solidFill>
              </a:defRPr>
            </a:pPr>
            <a:r>
              <a:rPr sz="1350" b="1">
                <a:solidFill>
                  <a:srgbClr val="FFC857"/>
                </a:solidFill>
              </a:rPr>
              <a:t>TUẦN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68104-BCF4-4E5E-8F1C-6127E3A4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5F8FC"/>
                </a:solidFill>
              </a:defRPr>
            </a:pPr>
            <a:r>
              <a:rPr sz="4800" b="1">
                <a:solidFill>
                  <a:srgbClr val="F5F8FC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85547-51E7-4D69-8C50-DE9EA9CA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FC0D4"/>
                </a:solidFill>
              </a:defRPr>
            </a:pPr>
            <a:r>
              <a:rPr sz="1350" b="0">
                <a:solidFill>
                  <a:srgbClr val="AFC0D4"/>
                </a:solidFill>
              </a:rPr>
              <a:t>Next.js Frontend</a:t>
            </a:r>
          </a:p>
          <a:p xmlns:a="http://schemas.openxmlformats.org/drawingml/2006/main">
            <a:pPr algn="ctr">
              <a:defRPr sz="1350" b="0">
                <a:solidFill>
                  <a:srgbClr val="AFC0D4"/>
                </a:solidFill>
              </a:defRPr>
            </a:pPr>
            <a:r>
              <a:rPr sz="1350" b="0">
                <a:solidFill>
                  <a:srgbClr val="AFC0D4"/>
                </a:solidFill>
              </a:rPr>
              <a:t>Re-check · Demo repo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4F172-2BDC-42EA-9013-01C4DBBC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00250"/>
            <a:ext cx="2457450" cy="28575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B9F3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B0109-CF69-46D9-9E55-5F872D8B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907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F36A"/>
                </a:solidFill>
              </a:defRPr>
            </a:pPr>
            <a:r>
              <a:rPr sz="1350" b="1">
                <a:solidFill>
                  <a:srgbClr val="B9F36A"/>
                </a:solidFill>
              </a:rPr>
              <a:t>TUẦN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9057FE-E864-43CE-AEF0-D226383A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076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5F8FC"/>
                </a:solidFill>
              </a:defRPr>
            </a:pPr>
            <a:r>
              <a:rPr sz="4800" b="1">
                <a:solidFill>
                  <a:srgbClr val="F5F8FC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CDAC35-2022-440B-A31D-A353C4BB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3380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FC0D4"/>
                </a:solidFill>
              </a:defRPr>
            </a:pPr>
            <a:r>
              <a:rPr sz="1350" b="0">
                <a:solidFill>
                  <a:srgbClr val="AFC0D4"/>
                </a:solidFill>
              </a:rPr>
              <a:t>Golden Eval</a:t>
            </a:r>
          </a:p>
          <a:p xmlns:a="http://schemas.openxmlformats.org/drawingml/2006/main">
            <a:pPr algn="ctr">
              <a:defRPr sz="1350" b="0">
                <a:solidFill>
                  <a:srgbClr val="AFC0D4"/>
                </a:solidFill>
              </a:defRPr>
            </a:pPr>
            <a:r>
              <a:rPr sz="1350" b="0">
                <a:solidFill>
                  <a:srgbClr val="AFC0D4"/>
                </a:solidFill>
              </a:rPr>
              <a:t>Prompt tuning ·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CAD6D-E70C-480F-A863-DBFAD740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1036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Mốc quyết định cuối mỗi tuần: checker chạy được → nguồn hợp nhất được → flow hoàn chỉnh → số đo đạt ngưỡng.</a:t>
            </a:r>
          </a:p>
        </p:txBody>
      </p:sp>
    </p:spTree>
    <p:extLst>
      <p:ext uri="{BB962C8B-B14F-4D97-AF65-F5344CB8AC3E}">
        <p14:creationId xmlns:p14="http://schemas.microsoft.com/office/powerpoint/2010/main" val="15771568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46285A-9A3A-41B6-89D6-F9312625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EE6D5"/>
                </a:solidFill>
              </a:defRPr>
            </a:pPr>
            <a:r>
              <a:rPr sz="975" b="1">
                <a:solidFill>
                  <a:srgbClr val="3EE6D5"/>
                </a:solidFill>
              </a:rPr>
              <a:t>07 ·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354DB-6AAC-452C-87B9-95DE3994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</a:defRPr>
            </a:pPr>
            <a:r>
              <a:rPr sz="2850" b="1">
                <a:solidFill>
                  <a:srgbClr val="F5F8FC"/>
                </a:solidFill>
              </a:rPr>
              <a:t>LabGuard nâng chất lượng bài nộp ở cả hai phía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782E0-CA35-4DF7-AE8F-22382FA1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4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B6408-EFC1-485D-8C6B-D05FC2EA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FC0D4"/>
                </a:solidFill>
              </a:defRPr>
            </a:pPr>
            <a:r>
              <a:rPr sz="975" b="1">
                <a:solidFill>
                  <a:srgbClr val="AFC0D4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D8B6A-2830-4AB8-AB08-48D14DF2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3EE6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2DEE2-9902-4720-ABA2-B7C7B859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E6D5"/>
                </a:solidFill>
              </a:defRPr>
            </a:pPr>
            <a:r>
              <a:rPr sz="1800" b="1">
                <a:solidFill>
                  <a:srgbClr val="3EE6D5"/>
                </a:solidFill>
              </a:rPr>
              <a:t>HỌC VIÊN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4FD18-44A0-43E5-819D-15446551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E6D5"/>
          </a:solidFill>
          <a:ln xmlns:a="http://schemas.openxmlformats.org/drawingml/2006/main" w="0">
            <a:solidFill>
              <a:srgbClr val="3EE6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3611E-A5E8-4055-8817-EAE429AE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Tiết kiệm lượt nộp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62A3A-8067-4F92-A957-F2786AAA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Phát hiện lỗi cơ bản trước hệ thống chính thức.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5EE78-E8A7-4CAF-95E1-DA0ABEF7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3A8FF"/>
          </a:solidFill>
          <a:ln xmlns:a="http://schemas.openxmlformats.org/drawingml/2006/main" w="0">
            <a:solidFill>
              <a:srgbClr val="53A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30259-F789-4D6A-8CD3-BD39373F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Hiểu lỗi ngữ nghĩa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8350D-3F0A-4331-8903-86FB5CDE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Biết vì sao logic Agent chưa đúng bản chất.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FFAA5-811A-4DDD-A847-F1CFBFA1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36A"/>
          </a:solidFill>
          <a:ln xmlns:a="http://schemas.openxmlformats.org/drawingml/2006/main" w="0">
            <a:solidFill>
              <a:srgbClr val="B9F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322FE-FF9A-411E-B87C-15F17575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Sửa có ưu tiên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3C037-5B3A-4D89-8488-560FEC7A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Tập trung vào rủi ro tác động lớn nhất.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2AB51-FDB2-4882-8DB4-63C1AE4D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28800"/>
            <a:ext cx="5095875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19050">
            <a:solidFill>
              <a:srgbClr val="FFC8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9B897-8D29-405B-8B73-95ED5E30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076450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C857"/>
                </a:solidFill>
              </a:defRPr>
            </a:pPr>
            <a:r>
              <a:rPr sz="1800" b="1">
                <a:solidFill>
                  <a:srgbClr val="FFC857"/>
                </a:solidFill>
              </a:rPr>
              <a:t>GIẢNG VIÊN / 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13EF7-B153-4827-93B4-0418282B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09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8BE10-4724-4D7A-8C52-797FF1C7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432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Giảm lỗi hành chính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B0EE5-1948-4607-B130-805BF693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2895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Thiếu file, sai cấu trúc, commit secret.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04A51-4D41-4337-8373-7BC0BEA9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78"/>
          </a:solidFill>
          <a:ln xmlns:a="http://schemas.openxmlformats.org/drawingml/2006/main" w="0">
            <a:solidFill>
              <a:srgbClr val="FF6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8CBA5-2CD4-42D7-A73E-9A9D9D80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3855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Giảm khiếu nại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7C0EC-51E8-4E47-A536-73DE07EE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2430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Finding có nguồn và bằng chứng rõ ràng.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672DE-6858-4119-915C-FB7150A0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00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36A"/>
          </a:solidFill>
          <a:ln xmlns:a="http://schemas.openxmlformats.org/drawingml/2006/main" w="0">
            <a:solidFill>
              <a:srgbClr val="B9F3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B3129-A3C0-4152-A36F-80C4196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33900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</a:defRPr>
            </a:pPr>
            <a:r>
              <a:rPr sz="1500" b="1">
                <a:solidFill>
                  <a:srgbClr val="F5F8FC"/>
                </a:solidFill>
              </a:rPr>
              <a:t>Tăng chất lượng đầu vào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E0DDB8-FE1A-4EAA-A799-6A81BEF4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9650"/>
            <a:ext cx="4152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</a:defRPr>
            </a:pPr>
            <a:r>
              <a:rPr sz="1200" b="0">
                <a:solidFill>
                  <a:srgbClr val="AFC0D4"/>
                </a:solidFill>
              </a:rPr>
              <a:t>Thời gian review dành cho vấn đề sâu hơn.</a:t>
            </a:r>
          </a:p>
        </p:txBody>
      </p:sp>
    </p:spTree>
    <p:extLst>
      <p:ext uri="{BB962C8B-B14F-4D97-AF65-F5344CB8AC3E}">
        <p14:creationId xmlns:p14="http://schemas.microsoft.com/office/powerpoint/2010/main" val="17903536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B9D1EF-0EC9-4599-877D-2AAFCAFB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257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C2230"/>
          </a:solidFill>
          <a:ln xmlns:a="http://schemas.openxmlformats.org/drawingml/2006/main" w="9525">
            <a:solidFill>
              <a:srgbClr val="3EE6D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2277C-6D0E-4515-A1AD-9783BC9D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EE6D5"/>
                </a:solidFill>
              </a:defRPr>
            </a:pPr>
            <a:r>
              <a:rPr sz="1050" b="1">
                <a:solidFill>
                  <a:srgbClr val="3EE6D5"/>
                </a:solidFill>
              </a:rPr>
              <a:t>LABGUARD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3F347-A6C3-45A1-8A2F-BE84DF39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8FC"/>
                </a:solidFill>
              </a:defRPr>
            </a:pPr>
            <a:r>
              <a:rPr sz="4050" b="1">
                <a:solidFill>
                  <a:srgbClr val="F5F8FC"/>
                </a:solidFill>
              </a:rPr>
              <a:t>Một lượt kiểm tra trước.</a:t>
            </a:r>
          </a:p>
          <a:p xmlns:a="http://schemas.openxmlformats.org/drawingml/2006/main">
            <a:pPr algn="l">
              <a:defRPr sz="4050" b="1">
                <a:solidFill>
                  <a:srgbClr val="F5F8FC"/>
                </a:solidFill>
              </a:defRPr>
            </a:pPr>
            <a:r>
              <a:rPr sz="4050" b="1">
                <a:solidFill>
                  <a:srgbClr val="F5F8FC"/>
                </a:solidFill>
              </a:rPr>
              <a:t>Một lần nộp tốt hơn.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E90BC-6C19-4EF9-B11B-82B199EA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EE6D5"/>
                </a:solidFill>
              </a:defRPr>
            </a:pPr>
            <a:r>
              <a:rPr sz="2100" b="1">
                <a:solidFill>
                  <a:srgbClr val="3EE6D5"/>
                </a:solidFill>
              </a:rPr>
              <a:t>Câu hỏi &amp; thảo luận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FC27F-4A42-4B5C-A856-A6A82646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634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4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77C8B-5C69-4889-8B14-62208EB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0D4"/>
                </a:solidFill>
              </a:defRPr>
            </a:pPr>
            <a:r>
              <a:rPr sz="1425" b="0">
                <a:solidFill>
                  <a:srgbClr val="AFC0D4"/>
                </a:solidFill>
              </a:rPr>
              <a:t>Demo link  ·  GitHub repository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E8353-0D89-4226-B435-3D26C8EF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76375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D2538"/>
          </a:solidFill>
          <a:ln xmlns:a="http://schemas.openxmlformats.org/drawingml/2006/main" w="19050">
            <a:solidFill>
              <a:srgbClr val="B9F3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4491C-8D0C-48B8-8A98-A0C8FAF4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14500"/>
            <a:ext cx="238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400" b="1">
                <a:solidFill>
                  <a:srgbClr val="B9F36A"/>
                </a:solidFill>
              </a:defRPr>
            </a:pPr>
            <a:r>
              <a:rPr sz="8400" b="1">
                <a:solidFill>
                  <a:srgbClr val="B9F36A"/>
                </a:solidFill>
              </a:rPr>
              <a:t>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1CEA0-333B-491A-A9D6-73B4E2E5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813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8FC"/>
                </a:solidFill>
              </a:defRPr>
            </a:pPr>
            <a:r>
              <a:rPr sz="2100" b="1">
                <a:solidFill>
                  <a:srgbClr val="F5F8FC"/>
                </a:solidFill>
              </a:rPr>
              <a:t>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337CD-F75E-4E49-8C54-CE7ACC2E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0D4"/>
                </a:solidFill>
              </a:defRPr>
            </a:pPr>
            <a:r>
              <a:rPr sz="1275" b="0">
                <a:solidFill>
                  <a:srgbClr val="AFC0D4"/>
                </a:solidFill>
              </a:rPr>
              <a:t>VinUni-AI20k · Cohort 34</a:t>
            </a:r>
          </a:p>
        </p:txBody>
      </p:sp>
    </p:spTree>
    <p:extLst>
      <p:ext uri="{BB962C8B-B14F-4D97-AF65-F5344CB8AC3E}">
        <p14:creationId xmlns:p14="http://schemas.microsoft.com/office/powerpoint/2010/main" val="24420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2026-07-31T02:52:09.9090000Z</dcterms:created>
  <dcterms:modified xsi:type="dcterms:W3CDTF">2026-07-31T02:52:09.9090000Z</dcterms:modified>
</coreProperties>
</file>